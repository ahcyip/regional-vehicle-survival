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sldIdLst>
    <p:sldId id="258" r:id="rId5"/>
    <p:sldId id="265" r:id="rId6"/>
    <p:sldId id="262" r:id="rId7"/>
    <p:sldId id="380" r:id="rId8"/>
    <p:sldId id="364" r:id="rId9"/>
    <p:sldId id="367" r:id="rId10"/>
    <p:sldId id="270" r:id="rId11"/>
    <p:sldId id="368" r:id="rId12"/>
    <p:sldId id="381" r:id="rId13"/>
    <p:sldId id="383" r:id="rId14"/>
    <p:sldId id="384" r:id="rId15"/>
    <p:sldId id="257" r:id="rId16"/>
    <p:sldId id="385" r:id="rId17"/>
    <p:sldId id="386" r:id="rId18"/>
    <p:sldId id="387" r:id="rId19"/>
    <p:sldId id="392" r:id="rId20"/>
    <p:sldId id="366" r:id="rId21"/>
    <p:sldId id="382" r:id="rId22"/>
    <p:sldId id="388" r:id="rId23"/>
    <p:sldId id="389" r:id="rId24"/>
    <p:sldId id="369" r:id="rId25"/>
    <p:sldId id="263" r:id="rId26"/>
    <p:sldId id="370" r:id="rId27"/>
    <p:sldId id="390" r:id="rId28"/>
    <p:sldId id="379" r:id="rId29"/>
    <p:sldId id="39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3FF911-774C-40CA-804F-425A9BFF839C}">
          <p14:sldIdLst>
            <p14:sldId id="258"/>
            <p14:sldId id="265"/>
          </p14:sldIdLst>
        </p14:section>
        <p14:section name="Untitled Section" id="{6EB2C0D2-E75C-40A6-8172-704FE51DCD50}">
          <p14:sldIdLst>
            <p14:sldId id="262"/>
            <p14:sldId id="380"/>
            <p14:sldId id="364"/>
            <p14:sldId id="367"/>
            <p14:sldId id="270"/>
            <p14:sldId id="368"/>
            <p14:sldId id="381"/>
            <p14:sldId id="383"/>
            <p14:sldId id="384"/>
            <p14:sldId id="257"/>
            <p14:sldId id="385"/>
            <p14:sldId id="386"/>
            <p14:sldId id="387"/>
            <p14:sldId id="392"/>
            <p14:sldId id="366"/>
            <p14:sldId id="382"/>
            <p14:sldId id="388"/>
            <p14:sldId id="389"/>
            <p14:sldId id="369"/>
            <p14:sldId id="263"/>
            <p14:sldId id="370"/>
            <p14:sldId id="390"/>
            <p14:sldId id="379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E41"/>
    <a:srgbClr val="58595B"/>
    <a:srgbClr val="364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72" autoAdjust="0"/>
    <p:restoredTop sz="95865"/>
  </p:normalViewPr>
  <p:slideViewPr>
    <p:cSldViewPr snapToGrid="0" snapToObjects="1">
      <p:cViewPr varScale="1">
        <p:scale>
          <a:sx n="112" d="100"/>
          <a:sy n="112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6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5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9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5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4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1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2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8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A4115-080F-CE4D-B714-6E09B751FC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28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4F22ACE-518A-13DC-296C-D38F2A3D86E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0190" r="5522"/>
          <a:stretch/>
        </p:blipFill>
        <p:spPr>
          <a:xfrm>
            <a:off x="3523488" y="32005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8D8FF-0DB0-07CF-65CE-E3E883EDF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78" y="961321"/>
            <a:ext cx="3945348" cy="296431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Light-Duty Vehicle Survival and Longevity in the US:</a:t>
            </a:r>
            <a:br>
              <a:rPr lang="en-US" sz="28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r>
              <a:rPr lang="en-US" sz="20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Analysis of National Vehicles in Operation Statistics</a:t>
            </a:r>
            <a:br>
              <a:rPr lang="en-US" sz="28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br>
              <a:rPr lang="en-US" sz="28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r>
              <a:rPr lang="en-US" sz="2200" b="1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David Greene</a:t>
            </a:r>
            <a:b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Civil &amp; Environmental Engineering</a:t>
            </a:r>
            <a:b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r>
              <a:rPr lang="en-US" sz="2200" b="1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Ben Leard</a:t>
            </a:r>
            <a:b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Baker School</a:t>
            </a:r>
            <a:b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</a:br>
            <a:r>
              <a:rPr lang="en-US" sz="2200" dirty="0">
                <a:solidFill>
                  <a:srgbClr val="58595B"/>
                </a:solidFill>
                <a:latin typeface="Gotham Medium"/>
                <a:cs typeface="Gotham Medium" pitchFamily="2" charset="0"/>
              </a:rPr>
              <a:t>November 20,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7955A-4968-1371-3AF7-6762B3C67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3555" y="4110329"/>
            <a:ext cx="2990362" cy="203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70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1579-E3B6-782F-120C-3396C359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Picture Placeholder 18" descr="A picture containing indoor&#10;&#10;Description automatically generated">
            <a:extLst>
              <a:ext uri="{FF2B5EF4-FFF2-40B4-BE49-F238E27FC236}">
                <a16:creationId xmlns:a16="http://schemas.microsoft.com/office/drawing/2014/main" id="{90852546-DD73-AA63-97AA-21701B56D4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7785" t="14214" r="11624" b="17881"/>
          <a:stretch/>
        </p:blipFill>
        <p:spPr>
          <a:xfrm>
            <a:off x="21265" y="4764"/>
            <a:ext cx="12192000" cy="684847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7714F-84D0-DAD4-97F9-2C0EFA0D2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235E5AB8-A491-3FE8-750A-460DF9EB49D8}"/>
              </a:ext>
            </a:extLst>
          </p:cNvPr>
          <p:cNvSpPr/>
          <p:nvPr/>
        </p:nvSpPr>
        <p:spPr>
          <a:xfrm>
            <a:off x="-118730" y="355359"/>
            <a:ext cx="12471990" cy="6858000"/>
          </a:xfrm>
          <a:prstGeom prst="rect">
            <a:avLst/>
          </a:prstGeom>
          <a:solidFill>
            <a:schemeClr val="bg2">
              <a:lumMod val="50000"/>
              <a:alpha val="71765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228600" hangingPunct="0">
              <a:lnSpc>
                <a:spcPct val="80000"/>
              </a:lnSpc>
              <a:defRPr baseline="-14814">
                <a:solidFill>
                  <a:srgbClr val="4267B2"/>
                </a:solidFill>
              </a:defRPr>
            </a:pPr>
            <a:r>
              <a:rPr lang="en-US" sz="2700" kern="0" baseline="-14814" dirty="0">
                <a:latin typeface="+mj-lt"/>
                <a:sym typeface="FreightSansLFPro"/>
              </a:rPr>
              <a:t>We </a:t>
            </a:r>
            <a:endParaRPr sz="2700" kern="0" baseline="-14814" dirty="0">
              <a:latin typeface="+mj-lt"/>
              <a:sym typeface="FreightSansLFPro"/>
            </a:endParaRPr>
          </a:p>
        </p:txBody>
      </p:sp>
      <p:sp>
        <p:nvSpPr>
          <p:cNvPr id="11" name="Lumos">
            <a:extLst>
              <a:ext uri="{FF2B5EF4-FFF2-40B4-BE49-F238E27FC236}">
                <a16:creationId xmlns:a16="http://schemas.microsoft.com/office/drawing/2014/main" id="{8744F94D-62F0-0737-D839-9BAAC8470BF3}"/>
              </a:ext>
            </a:extLst>
          </p:cNvPr>
          <p:cNvSpPr txBox="1"/>
          <p:nvPr/>
        </p:nvSpPr>
        <p:spPr>
          <a:xfrm>
            <a:off x="1419533" y="1007145"/>
            <a:ext cx="228166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FreightSansLFPro Semibold"/>
              </a:defRPr>
            </a:lvl1pPr>
          </a:lstStyle>
          <a:p>
            <a:pPr algn="ctr" defTabSz="412750" hangingPunct="0">
              <a:defRPr/>
            </a:pPr>
            <a:r>
              <a:rPr lang="en-US" sz="3600" kern="0" dirty="0">
                <a:latin typeface="Gotham Medium" pitchFamily="2" charset="0"/>
                <a:cs typeface="Gotham Medium" pitchFamily="2" charset="0"/>
              </a:rPr>
              <a:t>WHY?</a:t>
            </a:r>
            <a:endParaRPr sz="3600" kern="0" dirty="0">
              <a:latin typeface="Gotham Medium" pitchFamily="2" charset="0"/>
              <a:cs typeface="Gotham Medium" pitchFamily="2" charset="0"/>
            </a:endParaRP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EF8F20CF-7AED-9CA1-7B05-E5F66378EBDB}"/>
              </a:ext>
            </a:extLst>
          </p:cNvPr>
          <p:cNvSpPr/>
          <p:nvPr/>
        </p:nvSpPr>
        <p:spPr>
          <a:xfrm flipV="1">
            <a:off x="4668301" y="1676870"/>
            <a:ext cx="1" cy="419211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FreightSansLFPro Light"/>
                <a:ea typeface="FreightSansLFPro Light"/>
                <a:cs typeface="FreightSansLFPro Light"/>
                <a:sym typeface="FreightSansLFPro Light"/>
              </a:defRPr>
            </a:pPr>
            <a:endParaRPr sz="1600" kern="0">
              <a:solidFill>
                <a:srgbClr val="000000"/>
              </a:solidFill>
              <a:latin typeface="+mj-lt"/>
              <a:sym typeface="FreightSansLFPro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678C5-9991-2AF9-D482-9080151BA401}"/>
              </a:ext>
            </a:extLst>
          </p:cNvPr>
          <p:cNvSpPr txBox="1"/>
          <p:nvPr/>
        </p:nvSpPr>
        <p:spPr>
          <a:xfrm>
            <a:off x="5048943" y="1676870"/>
            <a:ext cx="6387743" cy="37240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/>
              <a:t>Important determinant of </a:t>
            </a:r>
            <a:r>
              <a:rPr lang="en-US" sz="2800" b="1" dirty="0">
                <a:solidFill>
                  <a:srgbClr val="FF8200"/>
                </a:solidFill>
              </a:rPr>
              <a:t>Replacement Demand for new vehicles.</a:t>
            </a:r>
          </a:p>
          <a:p>
            <a:endParaRPr lang="en-US" sz="2800" dirty="0">
              <a:solidFill>
                <a:schemeClr val="bg2"/>
              </a:solidFill>
            </a:endParaRPr>
          </a:p>
          <a:p>
            <a:r>
              <a:rPr lang="en-US" sz="2800" dirty="0"/>
              <a:t>Key factor in the time required to accomplish an </a:t>
            </a:r>
            <a:r>
              <a:rPr lang="en-US" sz="2800" dirty="0">
                <a:solidFill>
                  <a:schemeClr val="bg1"/>
                </a:solidFill>
              </a:rPr>
              <a:t>Energy Transition.</a:t>
            </a:r>
            <a:endParaRPr lang="en-US" dirty="0">
              <a:solidFill>
                <a:srgbClr val="FF8200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2800" b="1" dirty="0"/>
              <a:t>Essential for modeling </a:t>
            </a:r>
            <a:r>
              <a:rPr lang="en-US" sz="2800" b="1" dirty="0">
                <a:solidFill>
                  <a:srgbClr val="FF8200"/>
                </a:solidFill>
              </a:rPr>
              <a:t>Vehicle Stock Turnover and future energy use, emissions, safety and vehicle automation.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7EEB1-972D-FD49-B7D4-E0FF4FA40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5355" y="6140321"/>
            <a:ext cx="1795380" cy="626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9B9771-8C92-5EA4-16B6-9945C945B7ED}"/>
              </a:ext>
            </a:extLst>
          </p:cNvPr>
          <p:cNvSpPr txBox="1"/>
          <p:nvPr/>
        </p:nvSpPr>
        <p:spPr>
          <a:xfrm>
            <a:off x="211138" y="6229350"/>
            <a:ext cx="9920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This work was supported by Oak Ridge National Laboratory and in done collaboration with the National Renewable Energy Laboratory.</a:t>
            </a:r>
          </a:p>
          <a:p>
            <a:r>
              <a:rPr lang="en-US" sz="1400" dirty="0"/>
              <a:t>The views expressed are those of the authors and not necessarily those of ORNL, NREL, the USDOE or UT.</a:t>
            </a:r>
          </a:p>
        </p:txBody>
      </p:sp>
    </p:spTree>
    <p:extLst>
      <p:ext uri="{BB962C8B-B14F-4D97-AF65-F5344CB8AC3E}">
        <p14:creationId xmlns:p14="http://schemas.microsoft.com/office/powerpoint/2010/main" val="416793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C8187-2E27-2CFC-6B75-19B4CE679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9166" y="720976"/>
            <a:ext cx="10461385" cy="1059697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58595B"/>
                </a:solidFill>
                <a:latin typeface="Gotham Medium" pitchFamily="2" charset="0"/>
                <a:cs typeface="Gotham Medium" pitchFamily="2" charset="0"/>
              </a:rPr>
              <a:t>Motor vehicles and especially light-duty vehicles (LDV) dominate U.S. Transportation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CB11D-B469-6B07-A021-A165806EDD9E}"/>
              </a:ext>
            </a:extLst>
          </p:cNvPr>
          <p:cNvSpPr txBox="1"/>
          <p:nvPr/>
        </p:nvSpPr>
        <p:spPr>
          <a:xfrm>
            <a:off x="1319842" y="1967317"/>
            <a:ext cx="10664537" cy="3628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Highway vehicles produce 87% of passenger miles, 40% of ton miles.</a:t>
            </a:r>
          </a:p>
          <a:p>
            <a:endParaRPr lang="en-US" sz="2800" dirty="0">
              <a:solidFill>
                <a:srgbClr val="5859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87% of &gt;280 million highway vehicles in operation (VIO) are light-duty vehicles (LDV): Cars, SUVs, Pickups.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vehicles are approximately 95% of vehicles in use.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USDOT, Bureau of Transportation Statistics, National Transportation Statistics, 2025.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D592F2-FD29-AB2E-5F5D-21E6939BBB6E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A962B-3033-06A6-F303-AE8196915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16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734CC-CFEF-7E22-7202-F209F457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11CCC-1102-A54E-8343-B9E151D74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9166" y="720976"/>
            <a:ext cx="10461385" cy="1059697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solidFill>
                  <a:srgbClr val="58595B"/>
                </a:solidFill>
                <a:latin typeface="Gotham Medium" pitchFamily="2" charset="0"/>
                <a:cs typeface="Gotham Medium" pitchFamily="2" charset="0"/>
              </a:rPr>
              <a:t>Here are the topics I plan to cover.</a:t>
            </a:r>
          </a:p>
          <a:p>
            <a:r>
              <a:rPr lang="en-US" sz="3600" dirty="0">
                <a:solidFill>
                  <a:srgbClr val="58595B"/>
                </a:solidFill>
                <a:latin typeface="Gotham Medium" pitchFamily="2" charset="0"/>
                <a:cs typeface="Gotham Medium" pitchFamily="2" charset="0"/>
              </a:rPr>
              <a:t>Please feel free to raise questions at any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2A224-CC2E-276A-5F02-EC7FA97E5D22}"/>
              </a:ext>
            </a:extLst>
          </p:cNvPr>
          <p:cNvSpPr txBox="1"/>
          <p:nvPr/>
        </p:nvSpPr>
        <p:spPr>
          <a:xfrm>
            <a:off x="1242021" y="1780673"/>
            <a:ext cx="106645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Economics of vehicle scrappage.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evidence of increasing vehicle longevity.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Scrappage/survival analysis of 2002-2020 passenger cars, SUVs and minivans, and pickup trucks in operation (supported by ORNL).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Implications for electrification and LDV CO</a:t>
            </a:r>
            <a:r>
              <a:rPr lang="en-US" sz="2800" baseline="-250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emissions.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analysis of 2014-2022 state-level used vehicle scrappage and migration (collaboration with ORNL and NREL).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9D826F-497D-B21D-157C-EEFEA1F97CD2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30C64-CA69-7466-4DEB-0DB8D0E1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05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3910-F4FC-EAF2-B914-D5389B1B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Econometric analyses of vehicle scrappage go back to the 1950s but the literature is relatively sparse.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C50A-135D-E0AD-41C3-AC52A82C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Cramer (1958): vehicles scrapped at zero value due to wear and tear or accidents.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Walker (1968): scrappage when cost of repair &gt; market value, influenced by used vehicle prices.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Parks (1977): scrappage when cost of random repair + scrap value &gt; market price.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Several more (including Greenspan &amp; Cohen, 1999; Jacobsen and Bentham, 2015) but basic economic theory essentially the same.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Useful international studies, especially for scrappage functional forms.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VIO data used in early studies contained about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10 vintages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 &gt;10 yrs. Today, 50 or more vintages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405344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489F-9C4D-4A85-7397-4BD2CB86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3098800" cy="609759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Review of the literature revealed a  trend of increasing longevity at rates of 0.5% to 1.0% per year in studies dating to 1999 using data  as early as 1958.</a:t>
            </a: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During this period, the designs and uses of light trucks changed markedly.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A5D6B71-EB00-F666-5A6F-B4D512650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325316"/>
              </p:ext>
            </p:extLst>
          </p:nvPr>
        </p:nvGraphicFramePr>
        <p:xfrm>
          <a:off x="3955796" y="415925"/>
          <a:ext cx="7499604" cy="60975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7652">
                  <a:extLst>
                    <a:ext uri="{9D8B030D-6E8A-4147-A177-3AD203B41FA5}">
                      <a16:colId xmlns:a16="http://schemas.microsoft.com/office/drawing/2014/main" val="1122575680"/>
                    </a:ext>
                  </a:extLst>
                </a:gridCol>
                <a:gridCol w="1026510">
                  <a:extLst>
                    <a:ext uri="{9D8B030D-6E8A-4147-A177-3AD203B41FA5}">
                      <a16:colId xmlns:a16="http://schemas.microsoft.com/office/drawing/2014/main" val="2397664490"/>
                    </a:ext>
                  </a:extLst>
                </a:gridCol>
                <a:gridCol w="958076">
                  <a:extLst>
                    <a:ext uri="{9D8B030D-6E8A-4147-A177-3AD203B41FA5}">
                      <a16:colId xmlns:a16="http://schemas.microsoft.com/office/drawing/2014/main" val="3174128788"/>
                    </a:ext>
                  </a:extLst>
                </a:gridCol>
                <a:gridCol w="722358">
                  <a:extLst>
                    <a:ext uri="{9D8B030D-6E8A-4147-A177-3AD203B41FA5}">
                      <a16:colId xmlns:a16="http://schemas.microsoft.com/office/drawing/2014/main" val="4203575095"/>
                    </a:ext>
                  </a:extLst>
                </a:gridCol>
                <a:gridCol w="615146">
                  <a:extLst>
                    <a:ext uri="{9D8B030D-6E8A-4147-A177-3AD203B41FA5}">
                      <a16:colId xmlns:a16="http://schemas.microsoft.com/office/drawing/2014/main" val="3381546785"/>
                    </a:ext>
                  </a:extLst>
                </a:gridCol>
                <a:gridCol w="615146">
                  <a:extLst>
                    <a:ext uri="{9D8B030D-6E8A-4147-A177-3AD203B41FA5}">
                      <a16:colId xmlns:a16="http://schemas.microsoft.com/office/drawing/2014/main" val="2557620968"/>
                    </a:ext>
                  </a:extLst>
                </a:gridCol>
                <a:gridCol w="722358">
                  <a:extLst>
                    <a:ext uri="{9D8B030D-6E8A-4147-A177-3AD203B41FA5}">
                      <a16:colId xmlns:a16="http://schemas.microsoft.com/office/drawing/2014/main" val="1066177643"/>
                    </a:ext>
                  </a:extLst>
                </a:gridCol>
                <a:gridCol w="722358">
                  <a:extLst>
                    <a:ext uri="{9D8B030D-6E8A-4147-A177-3AD203B41FA5}">
                      <a16:colId xmlns:a16="http://schemas.microsoft.com/office/drawing/2014/main" val="1903903196"/>
                    </a:ext>
                  </a:extLst>
                </a:gridCol>
              </a:tblGrid>
              <a:tr h="40947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Source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Vehicle Type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Model or Calendar Year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Start Year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End Year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Expected Lifetime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Annual % Change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1613122108"/>
                  </a:ext>
                </a:extLst>
              </a:tr>
              <a:tr h="4094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Start Year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End Year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663050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Hamilton &amp; McCauley, 1999</a:t>
                      </a:r>
                      <a:endParaRPr lang="en-US" sz="100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Model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1958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1977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9.0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11.0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1.06%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2558358981"/>
                  </a:ext>
                </a:extLst>
              </a:tr>
              <a:tr h="4094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Greenspan &amp; Cohen, 1999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 &amp; Trucks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Model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1960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1980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9.8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12.5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1.22%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3549686664"/>
                  </a:ext>
                </a:extLst>
              </a:tr>
              <a:tr h="248216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Davis &amp; McFarlin, 1996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Model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10.7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12.1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0.83%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3797270641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Trucks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1969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14.6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0.77%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1095577934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Trucks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14.6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15.8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0.98%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851248488"/>
                  </a:ext>
                </a:extLst>
              </a:tr>
              <a:tr h="24821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Davis &amp; Diegel, 2013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Model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11.6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12.5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0.81%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1558540204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Light Trucks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Model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16.2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15.2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-0.58%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1525296633"/>
                  </a:ext>
                </a:extLst>
              </a:tr>
              <a:tr h="24821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Bento et al., 2018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1974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12.5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14.1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1.29%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794064250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Light Trucks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1974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16.3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15.1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-0.80%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3412120952"/>
                  </a:ext>
                </a:extLst>
              </a:tr>
              <a:tr h="24821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NHTSA, 2006.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1984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1989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12.4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13.2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1.10%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874876650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Light Trucks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1984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1989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15.6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14.1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-1.89%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2819694343"/>
                  </a:ext>
                </a:extLst>
              </a:tr>
              <a:tr h="248216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Greene &amp; Leard, 2022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2003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2020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14.9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16.1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0.46%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2654677433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SUV &amp; Van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2003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2020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16.6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18.2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0.54%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462755522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Pickup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2003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2020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18.7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24.0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1.48%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808653858"/>
                  </a:ext>
                </a:extLst>
              </a:tr>
              <a:tr h="248216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Zhu et al., 2021</a:t>
                      </a:r>
                      <a:endParaRPr lang="en-US" sz="1000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Cars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2018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12.2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16.9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0.76%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3346888025"/>
                  </a:ext>
                </a:extLst>
              </a:tr>
              <a:tr h="24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SUVs*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2018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14.2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17.8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0.53%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3796317948"/>
                  </a:ext>
                </a:extLst>
              </a:tr>
              <a:tr h="401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Pickups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Calendar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1975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2018</a:t>
                      </a:r>
                      <a:endParaRPr lang="en-US" sz="10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16.3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18.6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0.31%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2482986570"/>
                  </a:ext>
                </a:extLst>
              </a:tr>
              <a:tr h="248216">
                <a:tc rowSpan="3" gridSpan="3">
                  <a:txBody>
                    <a:bodyPr/>
                    <a:lstStyle/>
                    <a:p>
                      <a:endParaRPr lang="en-US" sz="1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Mean including light trucks</a:t>
                      </a:r>
                      <a:endParaRPr lang="en-US" sz="11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0.52%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711435041"/>
                  </a:ext>
                </a:extLst>
              </a:tr>
              <a:tr h="248216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Mean excluding light trucks</a:t>
                      </a:r>
                      <a:endParaRPr lang="en-US" sz="11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0.96%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3773600821"/>
                  </a:ext>
                </a:extLst>
              </a:tr>
              <a:tr h="248216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Mean trucks weighted 1/3</a:t>
                      </a:r>
                      <a:endParaRPr lang="en-US" sz="11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0.67%</a:t>
                      </a:r>
                      <a:endParaRPr lang="en-US" sz="1100" b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7" marR="63767" marT="0" marB="0" anchor="ctr"/>
                </a:tc>
                <a:extLst>
                  <a:ext uri="{0D108BD9-81ED-4DB2-BD59-A6C34878D82A}">
                    <a16:rowId xmlns:a16="http://schemas.microsoft.com/office/drawing/2014/main" val="2846146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98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D592F2-FD29-AB2E-5F5D-21E6939BBB6E}"/>
              </a:ext>
            </a:extLst>
          </p:cNvPr>
          <p:cNvSpPr/>
          <p:nvPr/>
        </p:nvSpPr>
        <p:spPr>
          <a:xfrm>
            <a:off x="0" y="6123027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U.S. Department of Commerce (USDOC), International Trade Administration, 2025b. “Used Vehicle Trade Data Visualization”, </a:t>
            </a:r>
          </a:p>
          <a:p>
            <a:r>
              <a:rPr lang="en-US" sz="1200" dirty="0"/>
              <a:t>U.S. Exports of Used Passenger Vehicles TOTAL Exports HTS Units and U.S. Imports of Used Passenger Vehicles TOTAL Imports HTS Units. </a:t>
            </a:r>
          </a:p>
          <a:p>
            <a:r>
              <a:rPr lang="en-US" sz="1200" dirty="0"/>
              <a:t>https://www.trade.gov/data-visualization/used-vehicle-trade-data-visualization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EF524-81F3-8A0E-213D-272454DF6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4B825B-29E6-825B-66B6-26C3CBAE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7849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We modeled the probability of surviving to age a+1, conditional on surviving to age 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339B8-BC4C-8D53-BD0E-8A24D084F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329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IHS Markit® National Vehicles In Operation (VIO) counts, 2002-2020 (ORNL).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US used passenger vehicle exports exceed used imports by an order of magnitude. Net exports averaged 6.8% 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stdev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1.2%) of LDV scrappage from 2003 to 2020 (USDOC, 2025).</a:t>
            </a: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We define vehicle age (imprecisely) as (calendar year) – (model year).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Model year ≠ Calendar year, carryover of unsold inventory can be substantial.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Survival rate of (a-1)-year-old vehicle, type v from year t-1 to t is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baseline="-2500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baseline="-2500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/N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v(a-1)(t-1)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 = passenger car,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SUV+vans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pickups.</a:t>
            </a:r>
            <a:endParaRPr lang="en-US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Scrappage rate is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1-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baseline="-2500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57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0430C-47D9-1C26-81F8-D21AAC4B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DC8CD6-5144-846A-BC3D-4E47F714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After testing several functional forms, we found a modified logistic distribution fit the data best.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A651281-1285-FBC4-11D9-BD1987470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i="1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)/2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−(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)/2</m:t>
                                  </m:r>
                                  <m:r>
                                    <a:rPr lang="en-US" sz="2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First study to use up to 50 vintages, we found scrappage rates increased up to about age 25, then decreased. </a:t>
                </a:r>
              </a:p>
              <a:p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We found: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That pickups last longer than cars and SUVs.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Increasing longevity over time for all three vehicle types.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Transitory changes in scrappage rates by year.</a:t>
                </a:r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A651281-1285-FBC4-11D9-BD1987470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E0ABB60-8B95-CCD1-51A1-B38FEF609723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A67B4-6C34-049A-8836-5DBC196CA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1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A399C-715A-7DE9-1C7F-3718C5E8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A799BD-2020-A54B-8E18-9BD116D1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Weighting the data by the VIO for each age and vehicle type fits newer vehicles slightly better, older vehicles slightly worse.</a:t>
            </a:r>
            <a:br>
              <a:rPr lang="en-US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(Apologies for switching colors!)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339608-5D93-22F3-81AD-F4C42EC41A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2718" y="2320290"/>
            <a:ext cx="5402632" cy="317960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5313E1-A841-D22E-1849-F1DF093C3D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75351" y="2208275"/>
            <a:ext cx="5589322" cy="33535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CF450D-FC58-3E6B-23F7-00150B908A53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3A818A-0531-E2B0-E4C0-9AEF102621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5A967A-A939-EC40-92F5-85BB7EED5067}"/>
              </a:ext>
            </a:extLst>
          </p:cNvPr>
          <p:cNvSpPr txBox="1"/>
          <p:nvPr/>
        </p:nvSpPr>
        <p:spPr>
          <a:xfrm>
            <a:off x="7886700" y="4366260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Weighted</a:t>
            </a:r>
          </a:p>
        </p:txBody>
      </p:sp>
    </p:spTree>
    <p:extLst>
      <p:ext uri="{BB962C8B-B14F-4D97-AF65-F5344CB8AC3E}">
        <p14:creationId xmlns:p14="http://schemas.microsoft.com/office/powerpoint/2010/main" val="2178725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9AA6D-AAEB-B9C7-B5CE-02741D86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C6CFC5-1ED5-F1FD-8002-8DC02C2B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For SUVs the balance between the fit to newer and older vehicles is more evident.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90825A-F945-AA2A-BA37-F6D36E042AE9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DEF6C-0DF2-B41F-8223-EA4F0E49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C1440E-A263-BDA4-E253-99CECEB88926}"/>
              </a:ext>
            </a:extLst>
          </p:cNvPr>
          <p:cNvSpPr txBox="1"/>
          <p:nvPr/>
        </p:nvSpPr>
        <p:spPr>
          <a:xfrm>
            <a:off x="7886700" y="4366260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Weighted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32E03D6-3BAE-A110-DAD6-9C5FB94FFF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74927" y="2148840"/>
            <a:ext cx="5678223" cy="340693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CABBAB1-6C88-765F-CE52-4E258E4E30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29073" y="2271937"/>
            <a:ext cx="5534558" cy="31962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3759E7-75C6-45FD-A9AF-92CE5165CC8E}"/>
              </a:ext>
            </a:extLst>
          </p:cNvPr>
          <p:cNvSpPr txBox="1"/>
          <p:nvPr/>
        </p:nvSpPr>
        <p:spPr>
          <a:xfrm>
            <a:off x="8012430" y="4377690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Weighted</a:t>
            </a:r>
          </a:p>
        </p:txBody>
      </p:sp>
    </p:spTree>
    <p:extLst>
      <p:ext uri="{BB962C8B-B14F-4D97-AF65-F5344CB8AC3E}">
        <p14:creationId xmlns:p14="http://schemas.microsoft.com/office/powerpoint/2010/main" val="107405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68042-1F08-1A92-C4A2-83855A6D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9FC245-D9A1-FDC1-D4E2-061767C9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The pickup curves are platykurtic (first chance ever to use that word) with a maximum at 28-29 years.</a:t>
            </a:r>
            <a:br>
              <a:rPr lang="en-US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(Also, negative scrappage rates for &lt;7 years in 2019).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6B844-1DD4-006C-C3F5-BF8D7FA59FE3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088DD-B5C8-92AE-04AD-E6F8C9496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791113-FE49-AA72-02AE-187B85DC9395}"/>
              </a:ext>
            </a:extLst>
          </p:cNvPr>
          <p:cNvSpPr txBox="1"/>
          <p:nvPr/>
        </p:nvSpPr>
        <p:spPr>
          <a:xfrm>
            <a:off x="7886700" y="4366260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Weighted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230D8E3-A15A-5BA4-DF57-6712C12847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46738" y="2271937"/>
            <a:ext cx="5473062" cy="3283837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0D916CD-E612-E45A-D0E0-237F784252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271937"/>
            <a:ext cx="5473062" cy="32838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B8EAAA-E08F-047A-D981-AFDAC474479F}"/>
              </a:ext>
            </a:extLst>
          </p:cNvPr>
          <p:cNvSpPr txBox="1"/>
          <p:nvPr/>
        </p:nvSpPr>
        <p:spPr>
          <a:xfrm>
            <a:off x="8149590" y="4274820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Weighted</a:t>
            </a:r>
          </a:p>
        </p:txBody>
      </p:sp>
    </p:spTree>
    <p:extLst>
      <p:ext uri="{BB962C8B-B14F-4D97-AF65-F5344CB8AC3E}">
        <p14:creationId xmlns:p14="http://schemas.microsoft.com/office/powerpoint/2010/main" val="4236764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64D1-5CD1-B189-147B-2300F4C5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51" y="365126"/>
            <a:ext cx="5641227" cy="2441574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All three vehicle types show increasing longevity from 2002-2020.</a:t>
            </a: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The time sequence is blue to green to yellow to red, with increasing solidity of the lines.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EF5DD-C95A-54C9-EB86-504D3EADCE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1" y="2806699"/>
            <a:ext cx="4846320" cy="287020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9AB97-FC55-9A6B-49BE-ACDAAF126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480" y="573088"/>
            <a:ext cx="4846320" cy="287020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6F31F3-3D9E-70AC-3666-3A5FC99D28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884" y="3429000"/>
            <a:ext cx="4846916" cy="2870209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ACF97C-E420-35BD-E3F5-3724F024499A}"/>
              </a:ext>
            </a:extLst>
          </p:cNvPr>
          <p:cNvSpPr txBox="1"/>
          <p:nvPr/>
        </p:nvSpPr>
        <p:spPr>
          <a:xfrm>
            <a:off x="1727200" y="2933699"/>
            <a:ext cx="58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0B7D3-1B1A-68D6-57C9-D8E3E25A51A8}"/>
              </a:ext>
            </a:extLst>
          </p:cNvPr>
          <p:cNvSpPr txBox="1"/>
          <p:nvPr/>
        </p:nvSpPr>
        <p:spPr>
          <a:xfrm>
            <a:off x="6921500" y="649288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SUVs + Vans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36A5-A4EB-1492-E72B-767812752C14}"/>
              </a:ext>
            </a:extLst>
          </p:cNvPr>
          <p:cNvSpPr txBox="1"/>
          <p:nvPr/>
        </p:nvSpPr>
        <p:spPr>
          <a:xfrm>
            <a:off x="6921500" y="3543299"/>
            <a:ext cx="887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Pickups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EEEA4-3F73-A197-9AA0-7A835174A18B}"/>
              </a:ext>
            </a:extLst>
          </p:cNvPr>
          <p:cNvSpPr txBox="1"/>
          <p:nvPr/>
        </p:nvSpPr>
        <p:spPr>
          <a:xfrm>
            <a:off x="2794000" y="5689608"/>
            <a:ext cx="182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AGE 0 to 50 Years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858A3-81AD-5F58-18C8-3B59A770B6CB}"/>
              </a:ext>
            </a:extLst>
          </p:cNvPr>
          <p:cNvSpPr txBox="1"/>
          <p:nvPr/>
        </p:nvSpPr>
        <p:spPr>
          <a:xfrm rot="16200000">
            <a:off x="52766" y="3872214"/>
            <a:ext cx="162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Scrappage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4039971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6D861-6563-BBE4-CE55-D8835EAA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DDC6-42F1-7254-B971-392132F0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72623" cy="859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Median expected lifetime is where the survival function crosses 0.5.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 sequence is blue to green to yellow to red, with increasing solidity of the lines.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47C64-07F1-BDE5-12CD-2D59395299DD}"/>
              </a:ext>
            </a:extLst>
          </p:cNvPr>
          <p:cNvSpPr txBox="1"/>
          <p:nvPr/>
        </p:nvSpPr>
        <p:spPr>
          <a:xfrm>
            <a:off x="1225396" y="3460940"/>
            <a:ext cx="58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Cars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E8B40C-5B62-5403-CF90-ED15B92AC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693" y="1316351"/>
            <a:ext cx="7070404" cy="50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11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637FD-D301-C989-7C16-6DCB45CA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F6AD-0D47-2415-F9A0-47F9C33D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72623" cy="859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The FHWA and EPA/NHTSA curves are for all light trucks.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 sequence is blue to green to yellow to red, with increasing solidity of the lines.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EF153-29C4-0566-9D73-772CBCEB692E}"/>
              </a:ext>
            </a:extLst>
          </p:cNvPr>
          <p:cNvSpPr txBox="1"/>
          <p:nvPr/>
        </p:nvSpPr>
        <p:spPr>
          <a:xfrm>
            <a:off x="1001816" y="1913540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SUVs + Vans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FF387-597E-F1A2-16EE-9A882A35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54" y="1331631"/>
            <a:ext cx="7089292" cy="508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4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DD2A1-EB35-7489-0E1B-6BF845F4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0962-C9FA-A63E-C353-CB77E20D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72623" cy="859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Increasing longevity is easier to see in the survival curves.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 sequence is blue to green to yellow to red, with increasing solidity of the lines.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92F7C0-764E-8FD6-4FA1-A48103AD759D}"/>
              </a:ext>
            </a:extLst>
          </p:cNvPr>
          <p:cNvSpPr txBox="1"/>
          <p:nvPr/>
        </p:nvSpPr>
        <p:spPr>
          <a:xfrm>
            <a:off x="1517719" y="1802646"/>
            <a:ext cx="887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Pickups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10861-3C8A-2177-A6B1-B019D69D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706" y="1360911"/>
            <a:ext cx="6988588" cy="51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2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302B2-D3CA-06A1-4D76-163A4AA3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0229-21DD-6B30-7C8E-6E747D9E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72623" cy="12922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We also estimated logistic models whose parameters were linear functions of time (x = years since 2002). They supported increasing longevity with some year-to-year variation.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58C02-226B-9390-95DC-8334C52C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690" y="1588900"/>
            <a:ext cx="7246620" cy="4966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9BB0B1-2737-5D47-80B5-B56E8BD6C3E2}"/>
              </a:ext>
            </a:extLst>
          </p:cNvPr>
          <p:cNvSpPr txBox="1"/>
          <p:nvPr/>
        </p:nvSpPr>
        <p:spPr>
          <a:xfrm>
            <a:off x="8343900" y="1897380"/>
            <a:ext cx="1950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 = weighted data</a:t>
            </a:r>
          </a:p>
        </p:txBody>
      </p:sp>
    </p:spTree>
    <p:extLst>
      <p:ext uri="{BB962C8B-B14F-4D97-AF65-F5344CB8AC3E}">
        <p14:creationId xmlns:p14="http://schemas.microsoft.com/office/powerpoint/2010/main" val="703609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7867FF-80F3-B8E9-A37E-13EB2E5A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Although we did not try to estimate causes of increased longevity, it seems clear that…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1570A-49AA-5589-9FE1-BD1950A8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 content ($) of LDVs has increased (faster than repair costs?)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Amenities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Safety equipment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Fuel economy technology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Technology has improved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Materials and coatings that resist rust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Computer controls and monitoring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More precision manufacturing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Lower friction lubricants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Regulations have had additional impacts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100,000-mile durability of emissions controls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Reduced drivetrain friction to increase fuel economy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Crash avoidance</a:t>
            </a:r>
          </a:p>
        </p:txBody>
      </p:sp>
    </p:spTree>
    <p:extLst>
      <p:ext uri="{BB962C8B-B14F-4D97-AF65-F5344CB8AC3E}">
        <p14:creationId xmlns:p14="http://schemas.microsoft.com/office/powerpoint/2010/main" val="4148767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3729D-E835-6C16-16E4-4C18C378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4146FC-31FE-C6B0-526F-AB3EED9E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20974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Using a simple stock model, we explored the implications of increasing vehicle longevity in a paper published in 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Environmental Research Letters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in 2023.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784084-E000-6E02-87E6-210946418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9451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3E3E41"/>
                </a:solidFill>
              </a:rPr>
              <a:t>Extrapolated survival probability functions to 2050.</a:t>
            </a:r>
          </a:p>
          <a:p>
            <a:r>
              <a:rPr lang="en-US" dirty="0">
                <a:solidFill>
                  <a:srgbClr val="3E3E41"/>
                </a:solidFill>
              </a:rPr>
              <a:t>We constructed 2 scenarios of new EV sales:</a:t>
            </a:r>
          </a:p>
          <a:p>
            <a:pPr lvl="1"/>
            <a:r>
              <a:rPr lang="en-US" dirty="0">
                <a:solidFill>
                  <a:srgbClr val="3E3E41"/>
                </a:solidFill>
              </a:rPr>
              <a:t>100% by 2035 vs. 50% by 2035 &amp; 100% by 2045</a:t>
            </a:r>
          </a:p>
          <a:p>
            <a:pPr lvl="1"/>
            <a:r>
              <a:rPr lang="en-US" dirty="0">
                <a:solidFill>
                  <a:srgbClr val="3E3E41"/>
                </a:solidFill>
              </a:rPr>
              <a:t>70% BEV, 30% PHEV</a:t>
            </a:r>
          </a:p>
          <a:p>
            <a:pPr lvl="1"/>
            <a:r>
              <a:rPr lang="en-US" dirty="0">
                <a:solidFill>
                  <a:srgbClr val="3E3E41"/>
                </a:solidFill>
              </a:rPr>
              <a:t>Increasing then decreasing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3E3E41"/>
                </a:solidFill>
              </a:rPr>
              <a:t> HEV market share.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3E3E41"/>
                </a:solidFill>
              </a:rPr>
              <a:t>We adopted 4 scenarios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3E3E41"/>
                </a:solidFill>
              </a:rPr>
              <a:t> of decarbonization based 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3E3E41"/>
                </a:solidFill>
              </a:rPr>
              <a:t>Gagnon P, Brown M, Steinberg D and Brown P, 2022.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3E3E41"/>
                </a:solidFill>
              </a:rPr>
              <a:t>“2022 standard scenarios report: a U.S. electricity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3E3E41"/>
                </a:solidFill>
              </a:rPr>
              <a:t>sector outlook”.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3E3E41"/>
                </a:solidFill>
              </a:rPr>
              <a:t>Technical Report NREL/TP-6A40-84327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3E3E41"/>
                </a:solidFill>
              </a:rPr>
              <a:t>(National Renewable Energy Laboratory)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3E3E41"/>
                </a:solidFill>
              </a:rPr>
              <a:t>(available at: www.nrel.gov/docs/fy23osti/84327.pdf).</a:t>
            </a:r>
            <a:endParaRPr lang="en-US" dirty="0">
              <a:solidFill>
                <a:srgbClr val="3E3E4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6D84B-A260-10E2-B3D7-489D194DE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732" y="365125"/>
            <a:ext cx="2560974" cy="6124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CE2628-20C4-7A2C-CCEE-E874012BC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16" y="3153196"/>
            <a:ext cx="4324350" cy="3124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C71DF8-BDA4-69C5-49AD-1DB1343151B2}"/>
              </a:ext>
            </a:extLst>
          </p:cNvPr>
          <p:cNvSpPr txBox="1"/>
          <p:nvPr/>
        </p:nvSpPr>
        <p:spPr>
          <a:xfrm>
            <a:off x="458284" y="6311900"/>
            <a:ext cx="875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E3E41"/>
                </a:solidFill>
              </a:rPr>
              <a:t>B. Leard and D. Greene, 2023. “Coordinating the electric vehicle transition and electricity grid decarbonization in the U.S. is not</a:t>
            </a:r>
          </a:p>
          <a:p>
            <a:r>
              <a:rPr lang="en-US" sz="1200" dirty="0">
                <a:solidFill>
                  <a:srgbClr val="3E3E41"/>
                </a:solidFill>
              </a:rPr>
              <a:t> essential to achieving substantial long-term carbon dioxide emissions reductions”, </a:t>
            </a:r>
            <a:r>
              <a:rPr lang="en-US" sz="1200" i="1" dirty="0">
                <a:solidFill>
                  <a:srgbClr val="3E3E41"/>
                </a:solidFill>
              </a:rPr>
              <a:t>Environmental Research Letters</a:t>
            </a:r>
            <a:r>
              <a:rPr lang="en-US" sz="1200" dirty="0">
                <a:solidFill>
                  <a:srgbClr val="3E3E41"/>
                </a:solidFill>
              </a:rPr>
              <a:t>, 18 074035. </a:t>
            </a:r>
          </a:p>
        </p:txBody>
      </p:sp>
    </p:spTree>
    <p:extLst>
      <p:ext uri="{BB962C8B-B14F-4D97-AF65-F5344CB8AC3E}">
        <p14:creationId xmlns:p14="http://schemas.microsoft.com/office/powerpoint/2010/main" val="265227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0D7CF-E056-E8FC-3A45-4F406B78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F476F6-4F72-81FB-4404-A013D2C4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26404" cy="567575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We found that gradually increasing vehicle longevity had relatively small effects on: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1. The transition of the vehicle stock to EVs.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2. The transition of vehicle miles to EVs.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FBA5A4-99E4-8C2C-FE88-D663C061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024" y="622570"/>
            <a:ext cx="7758173" cy="587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44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11919-0F39-2690-98F9-49BFA615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2E2ED8-D711-25B2-F4A5-FD32DDB6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19426" cy="86845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Of course, the timing of EV sales growth, grid decarbonization and vehicle longevity mattered, but not as much as we thought they would.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6C783C-FF84-29FB-2BB0-E9D0A6EE6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9404"/>
            <a:ext cx="3721747" cy="433091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E3E41"/>
                </a:solidFill>
              </a:rPr>
              <a:t>The slowest grid decarbonization scenario reduced CO</a:t>
            </a:r>
            <a:r>
              <a:rPr lang="en-US" sz="2000" baseline="-25000" dirty="0">
                <a:solidFill>
                  <a:srgbClr val="3E3E41"/>
                </a:solidFill>
              </a:rPr>
              <a:t>2</a:t>
            </a:r>
            <a:r>
              <a:rPr lang="en-US" sz="2000" dirty="0">
                <a:solidFill>
                  <a:srgbClr val="3E3E41"/>
                </a:solidFill>
              </a:rPr>
              <a:t> emissions by over 60% by 2050, with 100% PEVs by 2045 and increasing longevity.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E3E41"/>
                </a:solidFill>
              </a:rPr>
              <a:t>No scenario reduced CO</a:t>
            </a:r>
            <a:r>
              <a:rPr lang="en-US" sz="2000" baseline="-25000" dirty="0">
                <a:solidFill>
                  <a:srgbClr val="3E3E41"/>
                </a:solidFill>
              </a:rPr>
              <a:t>2</a:t>
            </a:r>
            <a:r>
              <a:rPr lang="en-US" sz="2000" dirty="0">
                <a:solidFill>
                  <a:srgbClr val="3E3E41"/>
                </a:solidFill>
              </a:rPr>
              <a:t> emissions by more than 90% by 2050.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3E3E41"/>
                </a:solidFill>
              </a:rPr>
              <a:t>Emissions by PEVs in the early years of the transition were almost negligible in all scenarios.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CFEA0-1D4B-4F45-303E-A45C5DF5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47" y="1385887"/>
            <a:ext cx="6749273" cy="518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E4294-994D-1E72-58DD-8A763EFCF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7E37DB-4162-2FE7-D8A0-C4033DDB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967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Interested in how EVs might migrate across states and affect the grid, in 2024 NREL shared 2015-2022 state survival rates by the 3 vehicle types. 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8A280202-5CF1-7E90-0439-D7A4874FA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1830" y="1253863"/>
            <a:ext cx="6839128" cy="54701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14FBF2-D416-4DC9-BE30-59ECAC3BA983}"/>
              </a:ext>
            </a:extLst>
          </p:cNvPr>
          <p:cNvSpPr txBox="1"/>
          <p:nvPr/>
        </p:nvSpPr>
        <p:spPr>
          <a:xfrm>
            <a:off x="664235" y="1503862"/>
            <a:ext cx="35775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The state survival rates (</a:t>
            </a:r>
            <a:r>
              <a:rPr lang="en-US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r>
              <a:rPr lang="en-US" sz="2400" dirty="0">
                <a:solidFill>
                  <a:schemeClr val="bg2"/>
                </a:solidFill>
              </a:rPr>
              <a:t>are “</a:t>
            </a:r>
            <a:r>
              <a:rPr lang="en-US" sz="2400" b="1" dirty="0">
                <a:solidFill>
                  <a:schemeClr val="bg2"/>
                </a:solidFill>
              </a:rPr>
              <a:t>net</a:t>
            </a:r>
            <a:r>
              <a:rPr lang="en-US" sz="2400" dirty="0">
                <a:solidFill>
                  <a:schemeClr val="bg2"/>
                </a:solidFill>
              </a:rPr>
              <a:t>” survival rates</a:t>
            </a:r>
          </a:p>
          <a:p>
            <a:r>
              <a:rPr lang="en-US" sz="2400" dirty="0">
                <a:solidFill>
                  <a:schemeClr val="bg2"/>
                </a:solidFill>
              </a:rPr>
              <a:t>because they include </a:t>
            </a:r>
          </a:p>
          <a:p>
            <a:r>
              <a:rPr lang="en-US" sz="2400" dirty="0">
                <a:solidFill>
                  <a:schemeClr val="bg2"/>
                </a:solidFill>
              </a:rPr>
              <a:t>both scrappage (</a:t>
            </a:r>
            <a:r>
              <a:rPr lang="en-US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solidFill>
                  <a:schemeClr val="bg2"/>
                </a:solidFill>
              </a:rPr>
              <a:t>) as well as imports (</a:t>
            </a:r>
            <a:r>
              <a:rPr lang="en-US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bg2"/>
                </a:solidFill>
              </a:rPr>
              <a:t>) and exports (</a:t>
            </a:r>
            <a:r>
              <a:rPr lang="en-US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chemeClr val="bg2"/>
                </a:solidFill>
              </a:rPr>
              <a:t>), i.e., net migrations of vehicles.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0AC405-8046-4B11-9B12-94BAF12C43DB}"/>
                  </a:ext>
                </a:extLst>
              </p:cNvPr>
              <p:cNvSpPr/>
              <p:nvPr/>
            </p:nvSpPr>
            <p:spPr>
              <a:xfrm>
                <a:off x="96848" y="4632036"/>
                <a:ext cx="4144983" cy="5949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𝑖𝑣𝑎</m:t>
                          </m:r>
                          <m:r>
                            <a:rPr lang="en-US" sz="16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sz="16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𝑖𝑣𝑎𝑡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𝑖𝑣𝑎𝑡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𝑖𝑣𝑎𝑡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𝑖𝑣𝑎𝑡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𝑖𝑣𝑎𝑡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0AC405-8046-4B11-9B12-94BAF12C43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8" y="4632036"/>
                <a:ext cx="4144983" cy="5949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242DBCDC-24D1-5D7A-4E5C-7A7ADDB1D1B2}"/>
              </a:ext>
            </a:extLst>
          </p:cNvPr>
          <p:cNvSpPr/>
          <p:nvPr/>
        </p:nvSpPr>
        <p:spPr>
          <a:xfrm>
            <a:off x="7426036" y="4479636"/>
            <a:ext cx="820817" cy="747972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B6B539-0975-D936-A3EF-A848DF0884AD}"/>
              </a:ext>
            </a:extLst>
          </p:cNvPr>
          <p:cNvSpPr/>
          <p:nvPr/>
        </p:nvSpPr>
        <p:spPr>
          <a:xfrm>
            <a:off x="9167090" y="2694882"/>
            <a:ext cx="820817" cy="747972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678F75-1F47-FF8D-7772-00E61DFABE37}"/>
              </a:ext>
            </a:extLst>
          </p:cNvPr>
          <p:cNvSpPr/>
          <p:nvPr/>
        </p:nvSpPr>
        <p:spPr>
          <a:xfrm>
            <a:off x="4454831" y="3884064"/>
            <a:ext cx="820817" cy="747972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44E4E3-CAFC-662A-6DB8-1F0FF61D10CB}"/>
              </a:ext>
            </a:extLst>
          </p:cNvPr>
          <p:cNvSpPr/>
          <p:nvPr/>
        </p:nvSpPr>
        <p:spPr>
          <a:xfrm>
            <a:off x="6220690" y="5744903"/>
            <a:ext cx="820817" cy="747972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E2B33-360B-97F2-0622-63493D9F1346}"/>
              </a:ext>
            </a:extLst>
          </p:cNvPr>
          <p:cNvSpPr txBox="1"/>
          <p:nvPr/>
        </p:nvSpPr>
        <p:spPr>
          <a:xfrm>
            <a:off x="405394" y="5525311"/>
            <a:ext cx="39131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E3E41"/>
                </a:solidFill>
              </a:rPr>
              <a:t>Permission to share the calculated rates</a:t>
            </a:r>
          </a:p>
          <a:p>
            <a:r>
              <a:rPr lang="en-US" dirty="0">
                <a:solidFill>
                  <a:srgbClr val="3E3E41"/>
                </a:solidFill>
              </a:rPr>
              <a:t> was from obtained by NREL from </a:t>
            </a:r>
          </a:p>
          <a:p>
            <a:r>
              <a:rPr lang="en-US" dirty="0">
                <a:solidFill>
                  <a:srgbClr val="3E3E41"/>
                </a:solidFill>
              </a:rPr>
              <a:t>Experian®, the source of the data.</a:t>
            </a:r>
          </a:p>
        </p:txBody>
      </p:sp>
    </p:spTree>
    <p:extLst>
      <p:ext uri="{BB962C8B-B14F-4D97-AF65-F5344CB8AC3E}">
        <p14:creationId xmlns:p14="http://schemas.microsoft.com/office/powerpoint/2010/main" val="2726687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069065-124F-4587-1634-CDFAB65C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899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State survival rates are more variable. And there are anomalies.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30DE7A-0AB3-ABE8-2799-819F348C3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9142" y="937312"/>
            <a:ext cx="8179995" cy="51563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D592F2-FD29-AB2E-5F5D-21E6939BBB6E}"/>
              </a:ext>
            </a:extLst>
          </p:cNvPr>
          <p:cNvSpPr/>
          <p:nvPr/>
        </p:nvSpPr>
        <p:spPr>
          <a:xfrm>
            <a:off x="-31900" y="6137023"/>
            <a:ext cx="12223900" cy="7349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426E6-A8BA-D3EE-DB56-2F918218CE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41204" y="6187455"/>
            <a:ext cx="1795380" cy="626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BA1B8E-DF7F-2A00-7D26-7FF2415794A7}"/>
              </a:ext>
            </a:extLst>
          </p:cNvPr>
          <p:cNvSpPr txBox="1"/>
          <p:nvPr/>
        </p:nvSpPr>
        <p:spPr>
          <a:xfrm>
            <a:off x="3217653" y="4597879"/>
            <a:ext cx="1602362" cy="646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Age =1 is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always unusual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D46E5A-C63D-5F1E-6290-C73B359CC7DA}"/>
              </a:ext>
            </a:extLst>
          </p:cNvPr>
          <p:cNvCxnSpPr>
            <a:cxnSpLocks/>
          </p:cNvCxnSpPr>
          <p:nvPr/>
        </p:nvCxnSpPr>
        <p:spPr>
          <a:xfrm flipH="1" flipV="1">
            <a:off x="2780145" y="4398745"/>
            <a:ext cx="437508" cy="52230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F9637F-2C5D-6505-1A0D-BDCD1A9F8CA6}"/>
              </a:ext>
            </a:extLst>
          </p:cNvPr>
          <p:cNvSpPr txBox="1"/>
          <p:nvPr/>
        </p:nvSpPr>
        <p:spPr>
          <a:xfrm>
            <a:off x="3384691" y="1763348"/>
            <a:ext cx="1148263" cy="646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These are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TN 2015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80955D-6CE0-DE4C-3F7D-A25CB9059AF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958823" y="2409679"/>
            <a:ext cx="263265" cy="37279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74023E3-2CF2-AD0D-EC87-D32858CEBAC0}"/>
              </a:ext>
            </a:extLst>
          </p:cNvPr>
          <p:cNvSpPr/>
          <p:nvPr/>
        </p:nvSpPr>
        <p:spPr>
          <a:xfrm rot="773399">
            <a:off x="5167700" y="3946274"/>
            <a:ext cx="2637225" cy="1095202"/>
          </a:xfrm>
          <a:prstGeom prst="ellipse">
            <a:avLst/>
          </a:prstGeom>
          <a:noFill/>
          <a:ln w="15875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70C99-FE7C-E442-F6A9-55F60FBA8405}"/>
              </a:ext>
            </a:extLst>
          </p:cNvPr>
          <p:cNvSpPr txBox="1"/>
          <p:nvPr/>
        </p:nvSpPr>
        <p:spPr>
          <a:xfrm>
            <a:off x="7928361" y="5031835"/>
            <a:ext cx="1091902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COVID-19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A9001B-CA43-1D86-FA1C-0609593B2BB5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7352145" y="5097088"/>
            <a:ext cx="576216" cy="11941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1D6A475-23C9-3709-DB31-65CCDD839C17}"/>
              </a:ext>
            </a:extLst>
          </p:cNvPr>
          <p:cNvSpPr txBox="1"/>
          <p:nvPr/>
        </p:nvSpPr>
        <p:spPr>
          <a:xfrm>
            <a:off x="10004631" y="2967335"/>
            <a:ext cx="1370888" cy="92333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Lots of noise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very few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vehicles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1E105D-C0FF-068A-314F-A1438E8A0610}"/>
              </a:ext>
            </a:extLst>
          </p:cNvPr>
          <p:cNvCxnSpPr>
            <a:cxnSpLocks/>
          </p:cNvCxnSpPr>
          <p:nvPr/>
        </p:nvCxnSpPr>
        <p:spPr>
          <a:xfrm flipH="1" flipV="1">
            <a:off x="9485745" y="1847355"/>
            <a:ext cx="518887" cy="111998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0E1055-9C8E-2E45-C9D9-5F5652330A1F}"/>
              </a:ext>
            </a:extLst>
          </p:cNvPr>
          <p:cNvCxnSpPr>
            <a:cxnSpLocks/>
          </p:cNvCxnSpPr>
          <p:nvPr/>
        </p:nvCxnSpPr>
        <p:spPr>
          <a:xfrm flipH="1">
            <a:off x="9485745" y="3890665"/>
            <a:ext cx="518887" cy="103038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300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E14C-37AD-9B03-2639-320745F5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8921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The NREL data included 2020 and 2021. How weird was the effect of COVID-19?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Very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An estimated 385,676 US deaths due to COVID-19 in 2020, the first year of the pandemic.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Why such a large impact on passenger cars over 20 years old?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(Is this an artifact?)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What effect did this have on used car prices after 2020?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248B75-FDFA-E08A-5E30-73F004F63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460" y="1877439"/>
            <a:ext cx="8140750" cy="4615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9B2295-861D-98E3-3D10-0D622B3A90C9}"/>
              </a:ext>
            </a:extLst>
          </p:cNvPr>
          <p:cNvSpPr txBox="1"/>
          <p:nvPr/>
        </p:nvSpPr>
        <p:spPr>
          <a:xfrm>
            <a:off x="4890809" y="2121004"/>
            <a:ext cx="158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E3E41"/>
                </a:solidFill>
              </a:rPr>
              <a:t>Passenger Cars</a:t>
            </a:r>
          </a:p>
        </p:txBody>
      </p:sp>
    </p:spTree>
    <p:extLst>
      <p:ext uri="{BB962C8B-B14F-4D97-AF65-F5344CB8AC3E}">
        <p14:creationId xmlns:p14="http://schemas.microsoft.com/office/powerpoint/2010/main" val="1172791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E6AD2-3D86-5FB4-0CE6-E0BA8C4F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B8C5-5AAE-6E7C-5ED5-BD27ECBCB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129" y="428077"/>
            <a:ext cx="4591454" cy="30009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The maps display an indicator of the fraction of vehicles 2 to 10 years old in the state imported (green) or exported (yellow) for the year Jan 1, 2018 to Jan 1, 2019.</a:t>
            </a:r>
            <a:br>
              <a:rPr lang="en-US" sz="2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The patterns are relatively consistent from 2014-2021.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46DF8A-A7FF-6C92-2C8C-655544FEF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1071" y="327905"/>
            <a:ext cx="5501461" cy="3101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234A48-62FE-0561-C3F6-F3ACE5612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071" y="3478397"/>
            <a:ext cx="5491547" cy="3182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BE32E6-709F-280D-6D33-2C95BF481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28" y="3491952"/>
            <a:ext cx="5405619" cy="31689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697772-5A83-C7B9-7A74-10B58418D5A2}"/>
              </a:ext>
            </a:extLst>
          </p:cNvPr>
          <p:cNvSpPr txBox="1"/>
          <p:nvPr/>
        </p:nvSpPr>
        <p:spPr>
          <a:xfrm>
            <a:off x="2441276" y="3025660"/>
            <a:ext cx="7617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</a:schemeClr>
                </a:solidFill>
              </a:rPr>
              <a:t>PRELIMINARY PLEASE DO NOT CITE</a:t>
            </a:r>
          </a:p>
        </p:txBody>
      </p:sp>
    </p:spTree>
    <p:extLst>
      <p:ext uri="{BB962C8B-B14F-4D97-AF65-F5344CB8AC3E}">
        <p14:creationId xmlns:p14="http://schemas.microsoft.com/office/powerpoint/2010/main" val="3583188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8B1F-5779-4323-8689-FE1F5801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8039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B125-7415-4D19-ADBE-F01BD4AEA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16"/>
            <a:ext cx="10515600" cy="5011946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Vehicle longevity has been increasing for decades.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At about 0.5% to 1% per year.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Estimated increases for 2002-2020: 2-3 years for cars, 3-4 years SUVs, 5-6 years for pickups.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Seems likely to continue.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 relatively simple modified logistic function fits scrappage rates well.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2020 expected lifetimes for cars (16.1), SUVs and vans (18.2) are similar, but pickups last longer (24.0).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How might that affect a transition to EVs? (Leard &amp; Greene, </a:t>
            </a:r>
            <a:r>
              <a:rPr lang="en-US" i="1" dirty="0" err="1">
                <a:solidFill>
                  <a:schemeClr val="bg2">
                    <a:lumMod val="50000"/>
                  </a:schemeClr>
                </a:solidFill>
              </a:rPr>
              <a:t>Envir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. Res. </a:t>
            </a:r>
            <a:r>
              <a:rPr lang="en-US" i="1" dirty="0" err="1">
                <a:solidFill>
                  <a:schemeClr val="bg2">
                    <a:lumMod val="50000"/>
                  </a:schemeClr>
                </a:solidFill>
              </a:rPr>
              <a:t>Ltrs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18(7) 2023)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Effect of continued increases in longevity on a transition to EVs seem modest.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emissions caused by EVs in the early years of transition are relatively minor.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From 2015 to 2022 some states appear to be consistent importers of newer used vehicles, some are exporters.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Will this be true for EVs, as well?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How will differences in new EV sales and used EV migrations affect the grid?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COVID-19 lowered newer used vehicle survival rates a bit but seems to have had a very large impact on vehicles over 25 years old. 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How did this influence used and new vehicle prices?</a:t>
            </a:r>
          </a:p>
        </p:txBody>
      </p:sp>
    </p:spTree>
    <p:extLst>
      <p:ext uri="{BB962C8B-B14F-4D97-AF65-F5344CB8AC3E}">
        <p14:creationId xmlns:p14="http://schemas.microsoft.com/office/powerpoint/2010/main" val="474189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0F13C-F5FF-B1D0-5AC1-17520281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974FF2-D8F0-EBB8-06BE-71587B7C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9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ORANGE 1">
      <a:dk1>
        <a:srgbClr val="FE8306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date_HBS_Powerpoint" id="{1889ACC8-97CB-DC4A-9F7D-3ED14018F3D7}" vid="{75C81E60-26DB-B14F-ABAC-84BAB88555E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cef82a-6d2f-4a2b-ad07-e8d0454ceef2">
      <Terms xmlns="http://schemas.microsoft.com/office/infopath/2007/PartnerControls"/>
    </lcf76f155ced4ddcb4097134ff3c332f>
    <TaxCatchAll xmlns="ca5e11b7-870e-4163-b6e3-496e42b829a2" xsi:nil="true"/>
    <SharedWithUsers xmlns="ca5e11b7-870e-4163-b6e3-496e42b829a2">
      <UserInfo>
        <DisplayName>Greene, David</DisplayName>
        <AccountId>45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053BDFED58647993A5C6C3F99F42A" ma:contentTypeVersion="13" ma:contentTypeDescription="Create a new document." ma:contentTypeScope="" ma:versionID="254747d74f33e4a76c8153429d72cef6">
  <xsd:schema xmlns:xsd="http://www.w3.org/2001/XMLSchema" xmlns:xs="http://www.w3.org/2001/XMLSchema" xmlns:p="http://schemas.microsoft.com/office/2006/metadata/properties" xmlns:ns2="cdcef82a-6d2f-4a2b-ad07-e8d0454ceef2" xmlns:ns3="ca5e11b7-870e-4163-b6e3-496e42b829a2" targetNamespace="http://schemas.microsoft.com/office/2006/metadata/properties" ma:root="true" ma:fieldsID="c4eceee5f2d33fd1a3ef0cdd99b46c91" ns2:_="" ns3:_="">
    <xsd:import namespace="cdcef82a-6d2f-4a2b-ad07-e8d0454ceef2"/>
    <xsd:import namespace="ca5e11b7-870e-4163-b6e3-496e42b829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cef82a-6d2f-4a2b-ad07-e8d0454cee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8ab95b9-39aa-4b9d-a2e7-0451eedf9b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5e11b7-870e-4163-b6e3-496e42b829a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af8d202-4241-45e7-8120-d450783ac773}" ma:internalName="TaxCatchAll" ma:showField="CatchAllData" ma:web="ca5e11b7-870e-4163-b6e3-496e42b829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17EBA8-F498-4F2E-8CCD-BDC3B231B236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ca5e11b7-870e-4163-b6e3-496e42b829a2"/>
    <ds:schemaRef ds:uri="http://schemas.microsoft.com/office/infopath/2007/PartnerControls"/>
    <ds:schemaRef ds:uri="http://schemas.microsoft.com/office/2006/metadata/properties"/>
    <ds:schemaRef ds:uri="cdcef82a-6d2f-4a2b-ad07-e8d0454ceef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D81A342-69F5-4DA1-99E4-45EC100FD9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cef82a-6d2f-4a2b-ad07-e8d0454ceef2"/>
    <ds:schemaRef ds:uri="ca5e11b7-870e-4163-b6e3-496e42b829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5F7657-E6CB-493C-895B-3BFB4A1E9F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2064</Words>
  <Application>Microsoft Office PowerPoint</Application>
  <PresentationFormat>Widescreen</PresentationFormat>
  <Paragraphs>288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Light-Duty Vehicle Survival and Longevity in the US: Analysis of National Vehicles in Operation Statistics  David Greene Civil &amp; Environmental Engineering Ben Leard Baker School November 20, 2025</vt:lpstr>
      <vt:lpstr>PowerPoint Presentation</vt:lpstr>
      <vt:lpstr>PowerPoint Presentation</vt:lpstr>
      <vt:lpstr>PowerPoint Presentation</vt:lpstr>
      <vt:lpstr>Econometric analyses of vehicle scrappage go back to the 1950s but the literature is relatively sparse.</vt:lpstr>
      <vt:lpstr>Review of the literature revealed a  trend of increasing longevity at rates of 0.5% to 1.0% per year in studies dating to 1999 using data  as early as 1958.  During this period, the designs and uses of light trucks changed markedly.</vt:lpstr>
      <vt:lpstr>We modeled the probability of surviving to age a+1, conditional on surviving to age a.</vt:lpstr>
      <vt:lpstr>After testing several functional forms, we found a modified logistic distribution fit the data best.</vt:lpstr>
      <vt:lpstr>Weighting the data by the VIO for each age and vehicle type fits newer vehicles slightly better, older vehicles slightly worse. (Apologies for switching colors!)</vt:lpstr>
      <vt:lpstr>For SUVs the balance between the fit to newer and older vehicles is more evident.</vt:lpstr>
      <vt:lpstr>The pickup curves are platykurtic (first chance ever to use that word) with a maximum at 28-29 years. (Also, negative scrappage rates for &lt;7 years in 2019).</vt:lpstr>
      <vt:lpstr>All three vehicle types show increasing longevity from 2002-2020.  The time sequence is blue to green to yellow to red, with increasing solidity of the lines.</vt:lpstr>
      <vt:lpstr>Median expected lifetime is where the survival function crosses 0.5. Time sequence is blue to green to yellow to red, with increasing solidity of the lines.</vt:lpstr>
      <vt:lpstr>The FHWA and EPA/NHTSA curves are for all light trucks. Time sequence is blue to green to yellow to red, with increasing solidity of the lines.</vt:lpstr>
      <vt:lpstr>Increasing longevity is easier to see in the survival curves. Time sequence is blue to green to yellow to red, with increasing solidity of the lines.</vt:lpstr>
      <vt:lpstr>We also estimated logistic models whose parameters were linear functions of time (x = years since 2002). They supported increasing longevity with some year-to-year variation.</vt:lpstr>
      <vt:lpstr>Although we did not try to estimate causes of increased longevity, it seems clear that…</vt:lpstr>
      <vt:lpstr>Using a simple stock model, we explored the implications of increasing vehicle longevity in a paper published in Environmental Research Letters in 2023.</vt:lpstr>
      <vt:lpstr>We found that gradually increasing vehicle longevity had relatively small effects on:  1. The transition of the vehicle stock to EVs.  2. The transition of vehicle miles to EVs.</vt:lpstr>
      <vt:lpstr>Of course, the timing of EV sales growth, grid decarbonization and vehicle longevity mattered, but not as much as we thought they would.</vt:lpstr>
      <vt:lpstr>Interested in how EVs might migrate across states and affect the grid, in 2024 NREL shared 2015-2022 state survival rates by the 3 vehicle types. </vt:lpstr>
      <vt:lpstr>State survival rates are more variable. And there are anomalies.</vt:lpstr>
      <vt:lpstr>The NREL data included 2020 and 2021. How weird was the effect of COVID-19? Very. An estimated 385,676 US deaths due to COVID-19 in 2020, the first year of the pandemic. Why such a large impact on passenger cars over 20 years old? (Is this an artifact?) What effect did this have on used car prices after 2020?</vt:lpstr>
      <vt:lpstr>The maps display an indicator of the fraction of vehicles 2 to 10 years old in the state imported (green) or exported (yellow) for the year Jan 1, 2018 to Jan 1, 2019. The patterns are relatively consistent from 2014-2021.</vt:lpstr>
      <vt:lpstr>So…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Greene, David</dc:creator>
  <cp:lastModifiedBy>Greene, David</cp:lastModifiedBy>
  <cp:revision>42</cp:revision>
  <dcterms:created xsi:type="dcterms:W3CDTF">2024-03-04T19:37:08Z</dcterms:created>
  <dcterms:modified xsi:type="dcterms:W3CDTF">2025-12-15T19:00:46Z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0x010100F7A053BDFED58647993A5C6C3F99F42A</vt:lpwstr>
  </property>
  <property fmtid="{D5CDD505-2E9C-101B-9397-08002B2CF9AE}" pid="3" name="MediaServiceImageTags">
    <vt:lpwstr/>
  </property>
</Properties>
</file>