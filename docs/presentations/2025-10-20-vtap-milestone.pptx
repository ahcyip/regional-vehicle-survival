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3"/>
  </p:notesMasterIdLst>
  <p:sldIdLst>
    <p:sldId id="2147375087" r:id="rId3"/>
    <p:sldId id="2147375102" r:id="rId4"/>
    <p:sldId id="364" r:id="rId5"/>
    <p:sldId id="353" r:id="rId6"/>
    <p:sldId id="355" r:id="rId7"/>
    <p:sldId id="2147375104" r:id="rId8"/>
    <p:sldId id="2147375103" r:id="rId9"/>
    <p:sldId id="2147375012" r:id="rId10"/>
    <p:sldId id="361" r:id="rId11"/>
    <p:sldId id="2147375081" r:id="rId12"/>
    <p:sldId id="2147375086" r:id="rId13"/>
    <p:sldId id="2147375085" r:id="rId14"/>
    <p:sldId id="2147375108" r:id="rId15"/>
    <p:sldId id="2147375099" r:id="rId16"/>
    <p:sldId id="2147375114" r:id="rId17"/>
    <p:sldId id="2147375113" r:id="rId18"/>
    <p:sldId id="2147375106" r:id="rId19"/>
    <p:sldId id="2147375115" r:id="rId20"/>
    <p:sldId id="2147375112" r:id="rId21"/>
    <p:sldId id="214737511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199" autoAdjust="0"/>
  </p:normalViewPr>
  <p:slideViewPr>
    <p:cSldViewPr snapToGrid="0">
      <p:cViewPr varScale="1">
        <p:scale>
          <a:sx n="92" d="100"/>
          <a:sy n="92" d="100"/>
        </p:scale>
        <p:origin x="123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p, Arthur" userId="449abbf6-f4cb-4fa5-ac32-cf7a55bef8bf" providerId="ADAL" clId="{E61C7EF5-0200-4AA9-85F2-AAFA36A4DFB4}"/>
    <pc:docChg chg="delSld">
      <pc:chgData name="Yip, Arthur" userId="449abbf6-f4cb-4fa5-ac32-cf7a55bef8bf" providerId="ADAL" clId="{E61C7EF5-0200-4AA9-85F2-AAFA36A4DFB4}" dt="2025-10-20T23:49:20.532" v="3" actId="47"/>
      <pc:docMkLst>
        <pc:docMk/>
      </pc:docMkLst>
      <pc:sldChg chg="del">
        <pc:chgData name="Yip, Arthur" userId="449abbf6-f4cb-4fa5-ac32-cf7a55bef8bf" providerId="ADAL" clId="{E61C7EF5-0200-4AA9-85F2-AAFA36A4DFB4}" dt="2025-10-20T23:49:20.532" v="3" actId="47"/>
        <pc:sldMkLst>
          <pc:docMk/>
          <pc:sldMk cId="3787731009" sldId="354"/>
        </pc:sldMkLst>
      </pc:sldChg>
      <pc:sldChg chg="del">
        <pc:chgData name="Yip, Arthur" userId="449abbf6-f4cb-4fa5-ac32-cf7a55bef8bf" providerId="ADAL" clId="{E61C7EF5-0200-4AA9-85F2-AAFA36A4DFB4}" dt="2025-10-20T23:49:20.532" v="3" actId="47"/>
        <pc:sldMkLst>
          <pc:docMk/>
          <pc:sldMk cId="2037218749" sldId="2147375084"/>
        </pc:sldMkLst>
      </pc:sldChg>
      <pc:sldChg chg="del">
        <pc:chgData name="Yip, Arthur" userId="449abbf6-f4cb-4fa5-ac32-cf7a55bef8bf" providerId="ADAL" clId="{E61C7EF5-0200-4AA9-85F2-AAFA36A4DFB4}" dt="2025-10-20T23:49:20.532" v="3" actId="47"/>
        <pc:sldMkLst>
          <pc:docMk/>
          <pc:sldMk cId="1115188400" sldId="2147375096"/>
        </pc:sldMkLst>
      </pc:sldChg>
      <pc:sldChg chg="del">
        <pc:chgData name="Yip, Arthur" userId="449abbf6-f4cb-4fa5-ac32-cf7a55bef8bf" providerId="ADAL" clId="{E61C7EF5-0200-4AA9-85F2-AAFA36A4DFB4}" dt="2025-10-20T23:49:20.532" v="3" actId="47"/>
        <pc:sldMkLst>
          <pc:docMk/>
          <pc:sldMk cId="1609343226" sldId="2147375097"/>
        </pc:sldMkLst>
      </pc:sldChg>
      <pc:sldChg chg="del">
        <pc:chgData name="Yip, Arthur" userId="449abbf6-f4cb-4fa5-ac32-cf7a55bef8bf" providerId="ADAL" clId="{E61C7EF5-0200-4AA9-85F2-AAFA36A4DFB4}" dt="2025-10-20T23:49:20.532" v="3" actId="47"/>
        <pc:sldMkLst>
          <pc:docMk/>
          <pc:sldMk cId="1914981492" sldId="2147375098"/>
        </pc:sldMkLst>
      </pc:sldChg>
      <pc:sldChg chg="del">
        <pc:chgData name="Yip, Arthur" userId="449abbf6-f4cb-4fa5-ac32-cf7a55bef8bf" providerId="ADAL" clId="{E61C7EF5-0200-4AA9-85F2-AAFA36A4DFB4}" dt="2025-10-20T23:49:14.313" v="2" actId="47"/>
        <pc:sldMkLst>
          <pc:docMk/>
          <pc:sldMk cId="2171817190" sldId="2147375107"/>
        </pc:sldMkLst>
      </pc:sldChg>
      <pc:sldChg chg="del">
        <pc:chgData name="Yip, Arthur" userId="449abbf6-f4cb-4fa5-ac32-cf7a55bef8bf" providerId="ADAL" clId="{E61C7EF5-0200-4AA9-85F2-AAFA36A4DFB4}" dt="2025-10-20T23:49:09.272" v="0" actId="47"/>
        <pc:sldMkLst>
          <pc:docMk/>
          <pc:sldMk cId="224092827" sldId="2147375109"/>
        </pc:sldMkLst>
      </pc:sldChg>
      <pc:sldChg chg="del">
        <pc:chgData name="Yip, Arthur" userId="449abbf6-f4cb-4fa5-ac32-cf7a55bef8bf" providerId="ADAL" clId="{E61C7EF5-0200-4AA9-85F2-AAFA36A4DFB4}" dt="2025-10-20T23:49:11.092" v="1" actId="47"/>
        <pc:sldMkLst>
          <pc:docMk/>
          <pc:sldMk cId="3360248653" sldId="214737511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46D7A0-174F-4608-BBDB-310DA3DF4821}" type="datetimeFigureOut">
              <a:rPr lang="en-US" smtClean="0"/>
              <a:t>2025-10-09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27381B-9CF8-4298-A488-8540A3604A48}" type="slidenum">
              <a:rPr lang="en-US" smtClean="0"/>
              <a:t>‹#›</a:t>
            </a:fld>
            <a:endParaRPr lang="en-US"/>
          </a:p>
        </p:txBody>
      </p:sp>
    </p:spTree>
    <p:extLst>
      <p:ext uri="{BB962C8B-B14F-4D97-AF65-F5344CB8AC3E}">
        <p14:creationId xmlns:p14="http://schemas.microsoft.com/office/powerpoint/2010/main" val="3785192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27381B-9CF8-4298-A488-8540A3604A48}" type="slidenum">
              <a:rPr lang="en-US" smtClean="0"/>
              <a:t>2</a:t>
            </a:fld>
            <a:endParaRPr lang="en-US"/>
          </a:p>
        </p:txBody>
      </p:sp>
    </p:spTree>
    <p:extLst>
      <p:ext uri="{BB962C8B-B14F-4D97-AF65-F5344CB8AC3E}">
        <p14:creationId xmlns:p14="http://schemas.microsoft.com/office/powerpoint/2010/main" val="1753898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apple-system"/>
              </a:rPr>
              <a:t>Higher median vehicle age in a county can arise from </a:t>
            </a:r>
          </a:p>
          <a:p>
            <a:r>
              <a:rPr lang="en-US" b="0" i="0" dirty="0">
                <a:effectLst/>
                <a:latin typeface="-apple-system"/>
              </a:rPr>
              <a:t>-transfers of used vehicles from other counties</a:t>
            </a:r>
          </a:p>
          <a:p>
            <a:r>
              <a:rPr lang="en-US" b="0" i="0" dirty="0">
                <a:effectLst/>
                <a:latin typeface="-apple-system"/>
              </a:rPr>
              <a:t>-households holding onto vehicles longer - quality of v</a:t>
            </a:r>
            <a:r>
              <a:rPr lang="en-US" dirty="0"/>
              <a:t>ehicles lasting longer, or “preference” for cheaper/used vehicles</a:t>
            </a:r>
          </a:p>
          <a:p>
            <a:r>
              <a:rPr lang="en-US" dirty="0"/>
              <a:t>-VMT impacts on survival/repairability</a:t>
            </a:r>
          </a:p>
          <a:p>
            <a:pPr marL="171450" indent="-171450">
              <a:buFontTx/>
              <a:buChar char="-"/>
            </a:pPr>
            <a:r>
              <a:rPr lang="en-US" dirty="0"/>
              <a:t>Ownership / backup vehicles</a:t>
            </a:r>
          </a:p>
          <a:p>
            <a:pPr marL="171450" indent="-171450">
              <a:buFontTx/>
              <a:buChar char="-"/>
            </a:pPr>
            <a:r>
              <a:rPr lang="en-US" dirty="0"/>
              <a:t>Incentives, new/used car subsidies, programs e.g. cash for clunkers</a:t>
            </a:r>
          </a:p>
          <a:p>
            <a:pPr marL="171450" indent="-171450">
              <a:buFontTx/>
              <a:buChar char="-"/>
            </a:pPr>
            <a:r>
              <a:rPr lang="en-US" dirty="0"/>
              <a:t>Winter road salt corrosion (correlated with temperature/climate)</a:t>
            </a:r>
          </a:p>
          <a:p>
            <a:pPr marL="171450" indent="-171450">
              <a:buFontTx/>
              <a:buChar char="-"/>
            </a:pPr>
            <a:r>
              <a:rPr lang="en-US" dirty="0"/>
              <a:t>Summer heat impact on EV battery degradation, range, and longevity</a:t>
            </a:r>
          </a:p>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 not necessarily spatially different, but over the years, vehicle age has gone up, quite possibly partially due to improved vehicle lifetimes.</a:t>
            </a:r>
            <a:br>
              <a:rPr lang="en-US" sz="1200" dirty="0">
                <a:effectLst/>
                <a:latin typeface="Times New Roman" panose="02020603050405020304" pitchFamily="18" charset="0"/>
                <a:ea typeface="Times New Roman" panose="02020603050405020304" pitchFamily="18" charset="0"/>
              </a:rPr>
            </a:br>
            <a:r>
              <a:rPr lang="en-US" sz="1200" dirty="0">
                <a:effectLst/>
                <a:latin typeface="Times New Roman" panose="02020603050405020304" pitchFamily="18" charset="0"/>
                <a:ea typeface="Times New Roman" panose="02020603050405020304" pitchFamily="18" charset="0"/>
              </a:rPr>
              <a:t>- not visible/I don’t have the evidence, but some make/models/types probably last longer than others...</a:t>
            </a:r>
          </a:p>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 </a:t>
            </a:r>
            <a:r>
              <a:rPr lang="en-US" sz="1200" dirty="0">
                <a:solidFill>
                  <a:srgbClr val="000000"/>
                </a:solidFill>
                <a:effectLst/>
                <a:latin typeface="Times New Roman" panose="02020603050405020304" pitchFamily="18" charset="0"/>
                <a:ea typeface="Times New Roman" panose="02020603050405020304" pitchFamily="18" charset="0"/>
              </a:rPr>
              <a:t>I’d delete</a:t>
            </a:r>
            <a:endParaRPr lang="en-US" sz="1200" dirty="0">
              <a:effectLst/>
              <a:latin typeface="Times New Roman" panose="02020603050405020304" pitchFamily="18" charset="0"/>
              <a:ea typeface="Times New Roman" panose="02020603050405020304" pitchFamily="18" charset="0"/>
            </a:endParaRPr>
          </a:p>
          <a:p>
            <a:pPr marL="171450" indent="-171450">
              <a:buFontTx/>
              <a:buChar char="-"/>
            </a:pPr>
            <a:endParaRPr lang="en-US" dirty="0"/>
          </a:p>
          <a:p>
            <a:pPr marL="171450" indent="-171450">
              <a:buFontTx/>
              <a:buChar char="-"/>
            </a:pPr>
            <a:endParaRPr lang="en-US" dirty="0"/>
          </a:p>
          <a:p>
            <a:pPr marL="171450" indent="-171450">
              <a:buFontTx/>
              <a:buChar char="-"/>
            </a:pPr>
            <a:r>
              <a:rPr lang="en-US" sz="1800" dirty="0">
                <a:effectLst/>
                <a:latin typeface="Times New Roman" panose="02020603050405020304" pitchFamily="18" charset="0"/>
                <a:ea typeface="Times New Roman" panose="02020603050405020304" pitchFamily="18" charset="0"/>
              </a:rPr>
              <a:t>Higher average vehicle age in a local jurisdiction can arise from many phenomena, including lower new vehicle sales, imports of older used vehicles from other counties, exports of newer used vehicles to other counties, or households holding onto and using vehicles longer before scrapping them</a:t>
            </a:r>
          </a:p>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 which could be from either the higher quality   of owned vehicles or the higher acceptance of or reliance on used/older vehicles </a:t>
            </a:r>
            <a:r>
              <a:rPr lang="en-US" sz="2800" dirty="0">
                <a:effectLst/>
              </a:rPr>
              <a:t> </a:t>
            </a:r>
            <a:r>
              <a:rPr lang="en-US" sz="1800" dirty="0">
                <a:effectLst/>
                <a:latin typeface="Times New Roman" panose="02020603050405020304" pitchFamily="18" charset="0"/>
                <a:ea typeface="Times New Roman" panose="02020603050405020304" pitchFamily="18" charset="0"/>
              </a:rPr>
              <a:t> </a:t>
            </a: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Is this a common reason? Do we have examples of this</a:t>
            </a: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Segoe UI" panose="020B0502040204020203" pitchFamily="34" charset="0"/>
              </a:rPr>
              <a:t>- Lack of corrosion due to winter salt</a:t>
            </a:r>
            <a:br>
              <a:rPr lang="en-US" sz="1800" dirty="0">
                <a:effectLst/>
                <a:latin typeface="Segoe UI" panose="020B0502040204020203" pitchFamily="34" charset="0"/>
              </a:rPr>
            </a:br>
            <a:r>
              <a:rPr lang="en-US" sz="1800" dirty="0">
                <a:effectLst/>
                <a:latin typeface="Segoe UI" panose="020B0502040204020203" pitchFamily="34" charset="0"/>
              </a:rPr>
              <a:t>- EV-specific: lack of battery degradation due to summer heat</a:t>
            </a:r>
            <a:br>
              <a:rPr lang="en-US" sz="1800" dirty="0">
                <a:effectLst/>
                <a:latin typeface="Segoe UI" panose="020B0502040204020203" pitchFamily="34" charset="0"/>
              </a:rPr>
            </a:br>
            <a:r>
              <a:rPr lang="en-US" sz="1800" dirty="0">
                <a:effectLst/>
                <a:latin typeface="Segoe UI" panose="020B0502040204020203" pitchFamily="34" charset="0"/>
              </a:rPr>
              <a:t>- not necessarily spatially different, but over the years, vehicle age has gone up, quite possibly partially due to improved vehicle lifetimes.</a:t>
            </a:r>
            <a:br>
              <a:rPr lang="en-US" sz="1800" dirty="0">
                <a:effectLst/>
                <a:latin typeface="Segoe UI" panose="020B0502040204020203" pitchFamily="34" charset="0"/>
              </a:rPr>
            </a:br>
            <a:r>
              <a:rPr lang="en-US" sz="1800" dirty="0">
                <a:effectLst/>
                <a:latin typeface="Segoe UI" panose="020B0502040204020203" pitchFamily="34" charset="0"/>
              </a:rPr>
              <a:t>- not visible/I don’t have the evidence, but some make/models/types probably last longer than others...</a:t>
            </a:r>
            <a:endParaRPr lang="en-US" sz="1800" dirty="0">
              <a:effectLst/>
              <a:latin typeface="Arial" panose="020B0604020202020204" pitchFamily="34" charset="0"/>
            </a:endParaRP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4</a:t>
            </a:fld>
            <a:endParaRPr lang="en-US"/>
          </a:p>
        </p:txBody>
      </p:sp>
    </p:spTree>
    <p:extLst>
      <p:ext uri="{BB962C8B-B14F-4D97-AF65-F5344CB8AC3E}">
        <p14:creationId xmlns:p14="http://schemas.microsoft.com/office/powerpoint/2010/main" val="537260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The correlation between regional stock turnover rates and EV sales is also of near-term importance. To date, US counties that have had higher EV shares have also been typically the ones that sell more new vehicles and have faster vehicle stock turnover (such as urban/suburban locations in California with populations with higher income and early adopters of technology). This can be observed in Figure 13, which shows EV sales shares and average vehicle age being anti-correlated (especially in California), where regions with the highest EV sales also tend to have lowest vehicle age, meaning EV stock will turnover faster in these regions. However, this is concurrent and correlated with many other factors – such as both lower EV sales share and higher vehicle age in more rural and lower-income counties – and therefore, the EV sales-to-stock transition may evolve differently in other regions and in the future. </a:t>
            </a:r>
          </a:p>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5</a:t>
            </a:fld>
            <a:endParaRPr lang="en-US"/>
          </a:p>
        </p:txBody>
      </p:sp>
    </p:spTree>
    <p:extLst>
      <p:ext uri="{BB962C8B-B14F-4D97-AF65-F5344CB8AC3E}">
        <p14:creationId xmlns:p14="http://schemas.microsoft.com/office/powerpoint/2010/main" val="2118358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opposed to additional new sales from population/economic/vehicle ownership growth)</a:t>
            </a:r>
          </a:p>
          <a:p>
            <a:endParaRPr lang="en-US" dirty="0"/>
          </a:p>
          <a:p>
            <a:r>
              <a:rPr lang="en-US" dirty="0"/>
              <a:t>Salt, miles, traffic, behavior, vehicle composition, repairability, condition</a:t>
            </a:r>
          </a:p>
        </p:txBody>
      </p:sp>
      <p:sp>
        <p:nvSpPr>
          <p:cNvPr id="4" name="Slide Number Placeholder 3"/>
          <p:cNvSpPr>
            <a:spLocks noGrp="1"/>
          </p:cNvSpPr>
          <p:nvPr>
            <p:ph type="sldNum" sz="quarter" idx="5"/>
          </p:nvPr>
        </p:nvSpPr>
        <p:spPr/>
        <p:txBody>
          <a:bodyPr/>
          <a:lstStyle/>
          <a:p>
            <a:fld id="{7827381B-9CF8-4298-A488-8540A3604A48}" type="slidenum">
              <a:rPr lang="en-US" smtClean="0"/>
              <a:t>7</a:t>
            </a:fld>
            <a:endParaRPr lang="en-US"/>
          </a:p>
        </p:txBody>
      </p:sp>
    </p:spTree>
    <p:extLst>
      <p:ext uri="{BB962C8B-B14F-4D97-AF65-F5344CB8AC3E}">
        <p14:creationId xmlns:p14="http://schemas.microsoft.com/office/powerpoint/2010/main" val="1406785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net survival = import/export</a:t>
            </a:r>
          </a:p>
          <a:p>
            <a:r>
              <a:rPr lang="en-US" dirty="0"/>
              <a:t>LATE net survival = scrappage</a:t>
            </a:r>
          </a:p>
          <a:p>
            <a:endParaRPr lang="en-US" dirty="0"/>
          </a:p>
          <a:p>
            <a:r>
              <a:rPr lang="en-US" dirty="0"/>
              <a:t>Global/national conservation of vehicle stocks and flows</a:t>
            </a:r>
          </a:p>
          <a:p>
            <a:r>
              <a:rPr lang="en-US" dirty="0"/>
              <a:t>State neighbors, spatial interaction, gravity modeling</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8</a:t>
            </a:fld>
            <a:endParaRPr lang="en-US"/>
          </a:p>
        </p:txBody>
      </p:sp>
    </p:spTree>
    <p:extLst>
      <p:ext uri="{BB962C8B-B14F-4D97-AF65-F5344CB8AC3E}">
        <p14:creationId xmlns:p14="http://schemas.microsoft.com/office/powerpoint/2010/main" val="1692131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Automotive industry</a:t>
            </a:r>
          </a:p>
          <a:p>
            <a:r>
              <a:rPr lang="en-US" dirty="0"/>
              <a:t>Recession – year-specific</a:t>
            </a:r>
          </a:p>
          <a:p>
            <a:r>
              <a:rPr lang="en-US" dirty="0"/>
              <a:t>Policy years</a:t>
            </a:r>
          </a:p>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9</a:t>
            </a:fld>
            <a:endParaRPr lang="en-US"/>
          </a:p>
        </p:txBody>
      </p:sp>
    </p:spTree>
    <p:extLst>
      <p:ext uri="{BB962C8B-B14F-4D97-AF65-F5344CB8AC3E}">
        <p14:creationId xmlns:p14="http://schemas.microsoft.com/office/powerpoint/2010/main" val="1541024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Assume known/fixed population/demographic, economic, and vehicle ownership levels</a:t>
            </a:r>
          </a:p>
          <a:p>
            <a:endParaRPr lang="en-US" dirty="0"/>
          </a:p>
        </p:txBody>
      </p:sp>
      <p:sp>
        <p:nvSpPr>
          <p:cNvPr id="4" name="Slide Number Placeholder 3"/>
          <p:cNvSpPr>
            <a:spLocks noGrp="1"/>
          </p:cNvSpPr>
          <p:nvPr>
            <p:ph type="sldNum" sz="quarter" idx="5"/>
          </p:nvPr>
        </p:nvSpPr>
        <p:spPr/>
        <p:txBody>
          <a:bodyPr/>
          <a:lstStyle/>
          <a:p>
            <a:fld id="{7827381B-9CF8-4298-A488-8540A3604A48}" type="slidenum">
              <a:rPr lang="en-US" smtClean="0"/>
              <a:t>14</a:t>
            </a:fld>
            <a:endParaRPr lang="en-US"/>
          </a:p>
        </p:txBody>
      </p:sp>
    </p:spTree>
    <p:extLst>
      <p:ext uri="{BB962C8B-B14F-4D97-AF65-F5344CB8AC3E}">
        <p14:creationId xmlns:p14="http://schemas.microsoft.com/office/powerpoint/2010/main" val="557726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hyperlink" Target="https://thesource.nrel.gov/publishing/disclaimers.html" TargetMode="Externa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6EB45-C733-07D6-D223-82CE47B677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D99919-E27E-7FED-E9D0-CD510BF3BB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E69791-882E-0679-A37C-277B43DE24E8}"/>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AE56A86D-5EA2-C959-4DEF-4840A1977B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64B335-FC44-319B-51B3-7B253072277F}"/>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4102083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345FD-D120-FEDB-9E30-281D425295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5CF0BF-445E-62D0-2079-17118F0B3E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16CCFF-0C2D-3854-FB1E-28FD62505088}"/>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89710EDC-FD62-EFC7-1CF9-DD84E341C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040A84-B44B-84D8-7D37-A70B4081253D}"/>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232576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5D84-DA58-7831-5757-EDF2E088CD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3B4B9B-8BB1-4EDD-CABE-190178419C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B6FC98-24AE-8DFA-C760-8BE61BF0D202}"/>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559DFB03-71D2-B7A3-82D5-54F7897795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CF274-22E2-EF8F-16EA-E6DE4D5D2D8F}"/>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807718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A48BC-BA5C-99A9-2B6D-261360FABD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9B0CB7-3860-E42A-6AEB-4CE64004FD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962BC5-EBF8-59A0-066E-E2C72834C7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B05FEF-F86B-1877-FB5F-864121953C00}"/>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6" name="Footer Placeholder 5">
            <a:extLst>
              <a:ext uri="{FF2B5EF4-FFF2-40B4-BE49-F238E27FC236}">
                <a16:creationId xmlns:a16="http://schemas.microsoft.com/office/drawing/2014/main" id="{5D9BDBFC-9254-B512-0EE6-167CEB15D5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8042D2-A42B-4A46-58C8-DB56C35FB9A7}"/>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1016276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F8F8C-6817-67F6-3017-7909EBFDD6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F17EFF-83C3-6C58-56C8-3BE0C3BE33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6EB96F-1DA6-613B-50D2-5C36B13F04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81E8C-2B2B-045B-5D7F-45DDB95329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43C1E1-BD89-882E-0065-7AC6CDC31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6E54AD-374B-99E6-4792-C1EEF5CA59A1}"/>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8" name="Footer Placeholder 7">
            <a:extLst>
              <a:ext uri="{FF2B5EF4-FFF2-40B4-BE49-F238E27FC236}">
                <a16:creationId xmlns:a16="http://schemas.microsoft.com/office/drawing/2014/main" id="{6E4864BD-8E79-9FFB-5C87-7693ADC023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0FEDC3-5315-8057-910E-EE5D5169D3CB}"/>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530423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B0A4E-4465-16E1-E29F-4A67B4BDB9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CA10A0-5DCA-2D9A-E11D-048B4BED6CCB}"/>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4" name="Footer Placeholder 3">
            <a:extLst>
              <a:ext uri="{FF2B5EF4-FFF2-40B4-BE49-F238E27FC236}">
                <a16:creationId xmlns:a16="http://schemas.microsoft.com/office/drawing/2014/main" id="{613FAD8D-7591-AD42-3C21-0FABB745ED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ADE1C3-9679-42D5-1925-AFEF013DA2C9}"/>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721292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863616-658E-151B-BD19-30C3F8CACB34}"/>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3" name="Footer Placeholder 2">
            <a:extLst>
              <a:ext uri="{FF2B5EF4-FFF2-40B4-BE49-F238E27FC236}">
                <a16:creationId xmlns:a16="http://schemas.microsoft.com/office/drawing/2014/main" id="{B49376B8-C044-AD9C-9264-D0C8E404E6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70D0CF-61A4-52E0-DCDF-D5E1095DC256}"/>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200661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94296-6EB9-40A5-C814-D8A9867FE4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4995DA-2CEC-C315-7498-059FE22A93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2F94E7-4913-4101-4A16-58710FCEA2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950EB6-0CF8-8D7D-BF91-54150AAC846E}"/>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6" name="Footer Placeholder 5">
            <a:extLst>
              <a:ext uri="{FF2B5EF4-FFF2-40B4-BE49-F238E27FC236}">
                <a16:creationId xmlns:a16="http://schemas.microsoft.com/office/drawing/2014/main" id="{451CEDE1-DEBF-936E-71A1-FC784BACE7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736F04-F1F9-7F78-20EA-596BDFD50BA6}"/>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2861096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40098-28CD-5F5D-6DAA-9483F8DF83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5F9F9A-121C-1314-6566-C4A58F5F97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CFE649-F7F8-F055-CD9E-010DF8CA00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FD8E0-23A1-502E-6F82-1E36A035A0B5}"/>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6" name="Footer Placeholder 5">
            <a:extLst>
              <a:ext uri="{FF2B5EF4-FFF2-40B4-BE49-F238E27FC236}">
                <a16:creationId xmlns:a16="http://schemas.microsoft.com/office/drawing/2014/main" id="{25456A40-FE80-45D5-4C69-399B79C65B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C55D4-DD44-B36B-D476-492B329EA2EB}"/>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1309673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104BD-B4E0-0B8B-7A16-CB5FD87303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D0E9ED-B633-8A73-C915-B44B77BEE0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EB0C4C-2BB5-E1B2-CB21-163288C579C4}"/>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D0D67BA5-E0D7-AF54-7009-6A6E3D31AE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47E1C0-BD9E-A9EB-4032-581E16A39A5E}"/>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1939621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5EF55E-8007-1A01-31A8-0AA0EFCE4C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5BFD01-9C12-809E-7082-E017611C47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35B50-7455-A0B1-F34C-7F8C4536F043}"/>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13652375-36AF-A06A-1DF7-B18EAEC034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19B0D7-83B5-1573-FEE4-F0DC6853A74F}"/>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861572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Slide - Blue Background">
    <p:spTree>
      <p:nvGrpSpPr>
        <p:cNvPr id="1" name=""/>
        <p:cNvGrpSpPr/>
        <p:nvPr/>
      </p:nvGrpSpPr>
      <p:grpSpPr>
        <a:xfrm>
          <a:off x="0" y="0"/>
          <a:ext cx="0" cy="0"/>
          <a:chOff x="0" y="0"/>
          <a:chExt cx="0" cy="0"/>
        </a:xfrm>
      </p:grpSpPr>
      <p:pic>
        <p:nvPicPr>
          <p:cNvPr id="6" name="Picture 5" descr="iStock-505476426_FlareFree.jpg">
            <a:extLst>
              <a:ext uri="{FF2B5EF4-FFF2-40B4-BE49-F238E27FC236}">
                <a16:creationId xmlns:a16="http://schemas.microsoft.com/office/drawing/2014/main" id="{312AD4B6-5589-B742-BDDC-8DE22CCB2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0" cy="686816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7876295-9728-A943-A66A-D4797EDDAE2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4187405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D0B5D6-19C6-C240-8A4A-D91733D837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805" t="13288" r="3423" b="57134"/>
          <a:stretch/>
        </p:blipFill>
        <p:spPr>
          <a:xfrm>
            <a:off x="3724672" y="332545"/>
            <a:ext cx="8069577" cy="3872137"/>
          </a:xfrm>
          <a:prstGeom prst="rect">
            <a:avLst/>
          </a:prstGeom>
          <a:ln>
            <a:solidFill>
              <a:schemeClr val="tx1">
                <a:lumMod val="20000"/>
                <a:lumOff val="80000"/>
              </a:schemeClr>
            </a:solidFill>
          </a:ln>
        </p:spPr>
      </p:pic>
      <p:sp>
        <p:nvSpPr>
          <p:cNvPr id="9" name="TextBox 8">
            <a:extLst>
              <a:ext uri="{FF2B5EF4-FFF2-40B4-BE49-F238E27FC236}">
                <a16:creationId xmlns:a16="http://schemas.microsoft.com/office/drawing/2014/main" id="{6A94802A-09A8-9E4E-AB4D-1EBB9F228F21}"/>
              </a:ext>
            </a:extLst>
          </p:cNvPr>
          <p:cNvSpPr txBox="1"/>
          <p:nvPr userDrawn="1"/>
        </p:nvSpPr>
        <p:spPr>
          <a:xfrm>
            <a:off x="320440" y="187393"/>
            <a:ext cx="3342769" cy="3929987"/>
          </a:xfrm>
          <a:prstGeom prst="rect">
            <a:avLst/>
          </a:prstGeom>
          <a:noFill/>
        </p:spPr>
        <p:txBody>
          <a:bodyPr wrap="square" rtlCol="0">
            <a:spAutoFit/>
          </a:bodyPr>
          <a:lstStyle/>
          <a:p>
            <a:pPr algn="l"/>
            <a:r>
              <a:rPr lang="en-US" sz="2267" b="1" i="1" dirty="0">
                <a:solidFill>
                  <a:srgbClr val="FF0000"/>
                </a:solidFill>
              </a:rPr>
              <a:t>PC Users:</a:t>
            </a:r>
          </a:p>
          <a:p>
            <a:pPr algn="l"/>
            <a:r>
              <a:rPr lang="en-US" sz="2267" i="1" dirty="0">
                <a:solidFill>
                  <a:srgbClr val="FF0000"/>
                </a:solidFill>
              </a:rPr>
              <a:t>Microsoft PowerPoint for Windows has default settings that continually compress images. To avoid loss</a:t>
            </a:r>
            <a:r>
              <a:rPr lang="en-US" sz="2267" i="1" baseline="0" dirty="0">
                <a:solidFill>
                  <a:srgbClr val="FF0000"/>
                </a:solidFill>
              </a:rPr>
              <a:t> of quality </a:t>
            </a:r>
            <a:r>
              <a:rPr lang="en-US" sz="2267" i="1" dirty="0">
                <a:solidFill>
                  <a:srgbClr val="FF0000"/>
                </a:solidFill>
              </a:rPr>
              <a:t>for photos and graphics within this presentation file,</a:t>
            </a:r>
            <a:r>
              <a:rPr lang="en-US" sz="2267" i="1" baseline="0" dirty="0">
                <a:solidFill>
                  <a:srgbClr val="FF0000"/>
                </a:solidFill>
              </a:rPr>
              <a:t> </a:t>
            </a:r>
            <a:r>
              <a:rPr lang="en-US" sz="2267" i="1" dirty="0">
                <a:solidFill>
                  <a:srgbClr val="FF0000"/>
                </a:solidFill>
              </a:rPr>
              <a:t>please follow these</a:t>
            </a:r>
            <a:r>
              <a:rPr lang="en-US" sz="2267" i="1" baseline="0" dirty="0">
                <a:solidFill>
                  <a:srgbClr val="FF0000"/>
                </a:solidFill>
              </a:rPr>
              <a:t> instructions </a:t>
            </a:r>
            <a:r>
              <a:rPr lang="en-US" sz="2267" i="1" dirty="0">
                <a:solidFill>
                  <a:srgbClr val="FF0000"/>
                </a:solidFill>
              </a:rPr>
              <a:t>to change your software settings.</a:t>
            </a:r>
            <a:endParaRPr lang="en-US" sz="2267" dirty="0"/>
          </a:p>
        </p:txBody>
      </p:sp>
      <p:sp>
        <p:nvSpPr>
          <p:cNvPr id="10" name="Rectangle 9">
            <a:extLst>
              <a:ext uri="{FF2B5EF4-FFF2-40B4-BE49-F238E27FC236}">
                <a16:creationId xmlns:a16="http://schemas.microsoft.com/office/drawing/2014/main" id="{CBA3EC89-8FD7-AD49-87E0-02D7F2DF5F59}"/>
              </a:ext>
            </a:extLst>
          </p:cNvPr>
          <p:cNvSpPr/>
          <p:nvPr userDrawn="1"/>
        </p:nvSpPr>
        <p:spPr>
          <a:xfrm>
            <a:off x="0" y="4453108"/>
            <a:ext cx="12192000" cy="1642893"/>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TextBox 10">
            <a:extLst>
              <a:ext uri="{FF2B5EF4-FFF2-40B4-BE49-F238E27FC236}">
                <a16:creationId xmlns:a16="http://schemas.microsoft.com/office/drawing/2014/main" id="{AB1BB405-73FA-544A-9D06-35DD6B110F85}"/>
              </a:ext>
            </a:extLst>
          </p:cNvPr>
          <p:cNvSpPr txBox="1"/>
          <p:nvPr userDrawn="1"/>
        </p:nvSpPr>
        <p:spPr>
          <a:xfrm>
            <a:off x="2012409" y="4547623"/>
            <a:ext cx="9277583" cy="1446358"/>
          </a:xfrm>
          <a:prstGeom prst="rect">
            <a:avLst/>
          </a:prstGeom>
          <a:noFill/>
        </p:spPr>
        <p:txBody>
          <a:bodyPr wrap="square" rtlCol="0">
            <a:spAutoFit/>
          </a:bodyPr>
          <a:lstStyle/>
          <a:p>
            <a:pPr algn="l"/>
            <a:r>
              <a:rPr lang="en-US" sz="2133" b="1" i="0" u="none" strike="noStrike" kern="1200" dirty="0">
                <a:solidFill>
                  <a:schemeClr val="bg1"/>
                </a:solidFill>
                <a:effectLst/>
                <a:latin typeface="+mn-lt"/>
                <a:ea typeface="+mn-ea"/>
                <a:cs typeface="+mn-cs"/>
              </a:rPr>
              <a:t>Note: </a:t>
            </a:r>
            <a:r>
              <a:rPr lang="en-US" sz="2133" b="0" i="0" u="none" strike="noStrike" kern="1200" dirty="0">
                <a:solidFill>
                  <a:schemeClr val="bg1"/>
                </a:solidFill>
                <a:effectLst/>
                <a:latin typeface="+mn-lt"/>
                <a:ea typeface="+mn-ea"/>
                <a:cs typeface="+mn-cs"/>
              </a:rPr>
              <a:t>To view and access all available template examples and change the title slide background image, click on </a:t>
            </a:r>
            <a:r>
              <a:rPr lang="en-US" sz="2133" b="0" i="1" u="none" strike="noStrike" kern="1200" dirty="0">
                <a:solidFill>
                  <a:schemeClr val="bg1"/>
                </a:solidFill>
                <a:effectLst/>
                <a:latin typeface="+mn-lt"/>
                <a:ea typeface="+mn-ea"/>
                <a:cs typeface="+mn-cs"/>
              </a:rPr>
              <a:t>View &gt; Slide Master</a:t>
            </a:r>
            <a:r>
              <a:rPr lang="en-US" sz="2133" b="0" i="0" u="none" strike="noStrike" kern="1200" dirty="0">
                <a:solidFill>
                  <a:schemeClr val="bg1"/>
                </a:solidFill>
                <a:effectLst/>
                <a:latin typeface="+mn-lt"/>
                <a:ea typeface="+mn-ea"/>
                <a:cs typeface="+mn-cs"/>
              </a:rPr>
              <a:t>. Be sure to close out of the Master slide view when working on slide content by clicking on </a:t>
            </a:r>
            <a:r>
              <a:rPr lang="en-US" sz="2133" b="0" i="1" u="none" strike="noStrike" kern="1200" dirty="0">
                <a:solidFill>
                  <a:schemeClr val="bg1"/>
                </a:solidFill>
                <a:effectLst/>
                <a:latin typeface="+mn-lt"/>
                <a:ea typeface="+mn-ea"/>
                <a:cs typeface="+mn-cs"/>
              </a:rPr>
              <a:t>View &gt; Normal</a:t>
            </a:r>
            <a:r>
              <a:rPr lang="en-US" sz="2133" b="0" i="0" u="none" strike="noStrike" kern="1200" dirty="0">
                <a:solidFill>
                  <a:schemeClr val="bg1"/>
                </a:solidFill>
                <a:effectLst/>
                <a:latin typeface="+mn-lt"/>
                <a:ea typeface="+mn-ea"/>
                <a:cs typeface="+mn-cs"/>
              </a:rPr>
              <a:t>. Full frame photo size is </a:t>
            </a:r>
            <a:r>
              <a:rPr lang="en-US" sz="2400" b="0" i="0" u="none" strike="noStrike" kern="1200" dirty="0">
                <a:solidFill>
                  <a:schemeClr val="bg1"/>
                </a:solidFill>
                <a:effectLst/>
                <a:latin typeface="+mn-lt"/>
                <a:ea typeface="+mn-ea"/>
                <a:cs typeface="+mn-cs"/>
              </a:rPr>
              <a:t>10” x 5.63”</a:t>
            </a:r>
            <a:r>
              <a:rPr lang="en-US" sz="2133" b="0" i="0" u="none" strike="noStrike" kern="1200" dirty="0">
                <a:solidFill>
                  <a:schemeClr val="bg1"/>
                </a:solidFill>
                <a:effectLst/>
                <a:latin typeface="+mn-lt"/>
                <a:ea typeface="+mn-ea"/>
                <a:cs typeface="+mn-cs"/>
              </a:rPr>
              <a:t>or </a:t>
            </a:r>
            <a:r>
              <a:rPr lang="en-US" sz="2400" b="0" i="0" u="none" strike="noStrike" kern="1200" dirty="0">
                <a:solidFill>
                  <a:schemeClr val="bg1"/>
                </a:solidFill>
                <a:effectLst/>
                <a:latin typeface="+mn-lt"/>
                <a:ea typeface="+mn-ea"/>
                <a:cs typeface="+mn-cs"/>
              </a:rPr>
              <a:t>1500 pixels x 844 pixels </a:t>
            </a:r>
            <a:r>
              <a:rPr lang="en-US" sz="2133" b="0" i="0" u="none" strike="noStrike" kern="1200" dirty="0">
                <a:solidFill>
                  <a:schemeClr val="bg1"/>
                </a:solidFill>
                <a:effectLst/>
                <a:latin typeface="+mn-lt"/>
                <a:ea typeface="+mn-ea"/>
                <a:cs typeface="+mn-cs"/>
              </a:rPr>
              <a:t>@ 150 DPI.</a:t>
            </a:r>
            <a:endParaRPr lang="en-US" sz="2133" i="0" dirty="0">
              <a:solidFill>
                <a:schemeClr val="bg1"/>
              </a:solidFill>
            </a:endParaRPr>
          </a:p>
        </p:txBody>
      </p:sp>
      <p:sp>
        <p:nvSpPr>
          <p:cNvPr id="12" name="Oval 11">
            <a:extLst>
              <a:ext uri="{FF2B5EF4-FFF2-40B4-BE49-F238E27FC236}">
                <a16:creationId xmlns:a16="http://schemas.microsoft.com/office/drawing/2014/main" id="{3056F585-18BE-674F-A94A-18D71683402A}"/>
              </a:ext>
            </a:extLst>
          </p:cNvPr>
          <p:cNvSpPr/>
          <p:nvPr userDrawn="1"/>
        </p:nvSpPr>
        <p:spPr>
          <a:xfrm>
            <a:off x="522515" y="4713515"/>
            <a:ext cx="1121228" cy="1121228"/>
          </a:xfrm>
          <a:prstGeom prst="ellips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3" name="TextBox 12">
            <a:extLst>
              <a:ext uri="{FF2B5EF4-FFF2-40B4-BE49-F238E27FC236}">
                <a16:creationId xmlns:a16="http://schemas.microsoft.com/office/drawing/2014/main" id="{73AEB9E5-6B41-3742-B632-83E2CC8D1741}"/>
              </a:ext>
            </a:extLst>
          </p:cNvPr>
          <p:cNvSpPr txBox="1"/>
          <p:nvPr userDrawn="1"/>
        </p:nvSpPr>
        <p:spPr>
          <a:xfrm>
            <a:off x="661307" y="4402720"/>
            <a:ext cx="800101" cy="1733680"/>
          </a:xfrm>
          <a:prstGeom prst="rect">
            <a:avLst/>
          </a:prstGeom>
          <a:noFill/>
        </p:spPr>
        <p:txBody>
          <a:bodyPr wrap="square" rtlCol="0">
            <a:spAutoFit/>
          </a:bodyPr>
          <a:lstStyle/>
          <a:p>
            <a:pPr algn="ctr"/>
            <a:r>
              <a:rPr lang="en-US" sz="10666" b="1" dirty="0"/>
              <a:t>!</a:t>
            </a:r>
          </a:p>
        </p:txBody>
      </p:sp>
    </p:spTree>
    <p:extLst>
      <p:ext uri="{BB962C8B-B14F-4D97-AF65-F5344CB8AC3E}">
        <p14:creationId xmlns:p14="http://schemas.microsoft.com/office/powerpoint/2010/main" val="1596799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userDrawn="1"/>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917320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5932" cy="685800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465B8CD2-BF47-094F-B614-5CEAE71B3F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3302023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65" y="0"/>
            <a:ext cx="12192000" cy="685800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821FBE40-03AF-2040-B470-29B21F4E35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11361759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Slide - Blue Background">
    <p:spTree>
      <p:nvGrpSpPr>
        <p:cNvPr id="1" name=""/>
        <p:cNvGrpSpPr/>
        <p:nvPr/>
      </p:nvGrpSpPr>
      <p:grpSpPr>
        <a:xfrm>
          <a:off x="0" y="0"/>
          <a:ext cx="0" cy="0"/>
          <a:chOff x="0" y="0"/>
          <a:chExt cx="0" cy="0"/>
        </a:xfrm>
      </p:grpSpPr>
      <p:pic>
        <p:nvPicPr>
          <p:cNvPr id="6" name="Picture 5" descr="iStock-505476426_FlareFree.jpg">
            <a:extLst>
              <a:ext uri="{FF2B5EF4-FFF2-40B4-BE49-F238E27FC236}">
                <a16:creationId xmlns:a16="http://schemas.microsoft.com/office/drawing/2014/main" id="{312AD4B6-5589-B742-BDDC-8DE22CCB2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0" cy="686816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7876295-9728-A943-A66A-D4797EDDAE2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15126939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6400318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5060900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1035352"/>
          </a:xfrm>
        </p:spPr>
        <p:txBody>
          <a:bodyPr/>
          <a:lstStyle/>
          <a:p>
            <a:r>
              <a:rPr lang="en-US"/>
              <a:t>Simple Slide</a:t>
            </a:r>
          </a:p>
        </p:txBody>
      </p:sp>
      <p:sp>
        <p:nvSpPr>
          <p:cNvPr id="5" name="TextBox 4"/>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t>NREL</a:t>
            </a:r>
            <a:r>
              <a:rPr lang="en-US" sz="1067" baseline="0" dirty="0"/>
              <a:t>    </a:t>
            </a:r>
            <a:r>
              <a:rPr lang="en-US" sz="1067" dirty="0"/>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p>
        </p:txBody>
      </p:sp>
    </p:spTree>
    <p:extLst>
      <p:ext uri="{BB962C8B-B14F-4D97-AF65-F5344CB8AC3E}">
        <p14:creationId xmlns:p14="http://schemas.microsoft.com/office/powerpoint/2010/main" val="2008701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dirty="0"/>
              <a:t>Simple Slide + Image</a:t>
            </a:r>
          </a:p>
        </p:txBody>
      </p:sp>
      <p:sp>
        <p:nvSpPr>
          <p:cNvPr id="9" name="Text Placeholder 8"/>
          <p:cNvSpPr>
            <a:spLocks noGrp="1"/>
          </p:cNvSpPr>
          <p:nvPr>
            <p:ph type="body" sz="quarter" idx="10" hasCustomPrompt="1"/>
          </p:nvPr>
        </p:nvSpPr>
        <p:spPr>
          <a:xfrm>
            <a:off x="609601" y="1499810"/>
            <a:ext cx="6857999" cy="4829025"/>
          </a:xfrm>
        </p:spPr>
        <p:txBody>
          <a:bodyPr/>
          <a:lstStyle>
            <a:lvl1pPr marL="0" indent="0">
              <a:buNone/>
              <a:defRPr b="1"/>
            </a:lvl1pPr>
            <a:lvl2pPr>
              <a:defRPr sz="2667"/>
            </a:lvl2pPr>
          </a:lstStyle>
          <a:p>
            <a:pPr lvl="0"/>
            <a:r>
              <a:rPr lang="en-US" dirty="0"/>
              <a:t>Header text</a:t>
            </a:r>
          </a:p>
          <a:p>
            <a:pPr lvl="1"/>
            <a:r>
              <a:rPr lang="en-US" dirty="0"/>
              <a:t>Bullet point 1</a:t>
            </a:r>
          </a:p>
          <a:p>
            <a:pPr lvl="1"/>
            <a:r>
              <a:rPr lang="en-US" dirty="0"/>
              <a:t>Bullet point 2</a:t>
            </a:r>
          </a:p>
          <a:p>
            <a:pPr lvl="1"/>
            <a:r>
              <a:rPr lang="en-US" dirty="0"/>
              <a:t>Bullet point 3</a:t>
            </a:r>
            <a:br>
              <a:rPr lang="en-US" dirty="0"/>
            </a:br>
            <a:endParaRPr lang="en-US" dirty="0"/>
          </a:p>
          <a:p>
            <a:pPr lvl="0"/>
            <a:r>
              <a:rPr lang="en-US" dirty="0"/>
              <a:t>Header text</a:t>
            </a:r>
          </a:p>
          <a:p>
            <a:pPr lvl="1"/>
            <a:r>
              <a:rPr lang="en-US" dirty="0"/>
              <a:t>Bullet point 1</a:t>
            </a:r>
          </a:p>
          <a:p>
            <a:pPr lvl="1"/>
            <a:r>
              <a:rPr lang="en-US" dirty="0"/>
              <a:t>Bullet point 2</a:t>
            </a:r>
          </a:p>
          <a:p>
            <a:pPr lvl="1"/>
            <a:r>
              <a:rPr lang="en-US" dirty="0"/>
              <a:t>Bullet point 3</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5" name="Picture Placeholder 4">
            <a:extLst>
              <a:ext uri="{FF2B5EF4-FFF2-40B4-BE49-F238E27FC236}">
                <a16:creationId xmlns:a16="http://schemas.microsoft.com/office/drawing/2014/main" id="{610250B1-824A-CC4A-9A13-92F03EBFAA8F}"/>
              </a:ext>
            </a:extLst>
          </p:cNvPr>
          <p:cNvSpPr>
            <a:spLocks noGrp="1"/>
          </p:cNvSpPr>
          <p:nvPr>
            <p:ph type="pic" sz="quarter" idx="11" hasCustomPrompt="1"/>
          </p:nvPr>
        </p:nvSpPr>
        <p:spPr>
          <a:xfrm>
            <a:off x="7936523" y="1500717"/>
            <a:ext cx="3645876" cy="4828117"/>
          </a:xfrm>
          <a:solidFill>
            <a:schemeClr val="bg1">
              <a:lumMod val="85000"/>
            </a:schemeClr>
          </a:solidFill>
        </p:spPr>
        <p:txBody>
          <a:bodyPr>
            <a:normAutofit/>
          </a:bodyPr>
          <a:lstStyle>
            <a:lvl1pPr marL="0" indent="0">
              <a:buNone/>
              <a:defRPr sz="2133"/>
            </a:lvl1pPr>
          </a:lstStyle>
          <a:p>
            <a:r>
              <a:rPr lang="en-US" dirty="0"/>
              <a:t>Insert image here</a:t>
            </a:r>
          </a:p>
        </p:txBody>
      </p:sp>
    </p:spTree>
    <p:extLst>
      <p:ext uri="{BB962C8B-B14F-4D97-AF65-F5344CB8AC3E}">
        <p14:creationId xmlns:p14="http://schemas.microsoft.com/office/powerpoint/2010/main" val="8200884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Simple Slide - Text 2">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526794"/>
            <a:ext cx="5486400" cy="2902207"/>
          </a:xfrm>
        </p:spPr>
        <p:txBody>
          <a:bodyPr>
            <a:normAutofit/>
          </a:bodyPr>
          <a:lstStyle>
            <a:lvl1pPr marL="0" indent="0">
              <a:buNone/>
              <a:defRPr sz="2667" b="0"/>
            </a:lvl1pPr>
            <a:lvl2pPr marL="609585" indent="0">
              <a:buNone/>
              <a:defRPr/>
            </a:lvl2pPr>
          </a:lstStyle>
          <a:p>
            <a:pPr lvl="0"/>
            <a:r>
              <a:rPr lang="en-US" dirty="0"/>
              <a:t>Summary or description text about the slide, images, charts, data go here.</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5" name="Picture Placeholder 4">
            <a:extLst>
              <a:ext uri="{FF2B5EF4-FFF2-40B4-BE49-F238E27FC236}">
                <a16:creationId xmlns:a16="http://schemas.microsoft.com/office/drawing/2014/main" id="{610250B1-824A-CC4A-9A13-92F03EBFAA8F}"/>
              </a:ext>
            </a:extLst>
          </p:cNvPr>
          <p:cNvSpPr>
            <a:spLocks noGrp="1"/>
          </p:cNvSpPr>
          <p:nvPr>
            <p:ph type="pic" sz="quarter" idx="11" hasCustomPrompt="1"/>
          </p:nvPr>
        </p:nvSpPr>
        <p:spPr>
          <a:xfrm>
            <a:off x="609600" y="3727939"/>
            <a:ext cx="3535680" cy="2600896"/>
          </a:xfrm>
          <a:solidFill>
            <a:schemeClr val="bg1">
              <a:lumMod val="85000"/>
            </a:schemeClr>
          </a:solidFill>
        </p:spPr>
        <p:txBody>
          <a:bodyPr>
            <a:normAutofit/>
          </a:bodyPr>
          <a:lstStyle>
            <a:lvl1pPr marL="0" indent="0">
              <a:buNone/>
              <a:defRPr sz="2133"/>
            </a:lvl1pPr>
          </a:lstStyle>
          <a:p>
            <a:r>
              <a:rPr lang="en-US" dirty="0"/>
              <a:t>Insert image here</a:t>
            </a:r>
          </a:p>
        </p:txBody>
      </p:sp>
      <p:sp>
        <p:nvSpPr>
          <p:cNvPr id="6" name="Picture Placeholder 4">
            <a:extLst>
              <a:ext uri="{FF2B5EF4-FFF2-40B4-BE49-F238E27FC236}">
                <a16:creationId xmlns:a16="http://schemas.microsoft.com/office/drawing/2014/main" id="{4F619479-75AC-A745-A352-0D743D62E3EA}"/>
              </a:ext>
            </a:extLst>
          </p:cNvPr>
          <p:cNvSpPr>
            <a:spLocks noGrp="1"/>
          </p:cNvSpPr>
          <p:nvPr>
            <p:ph type="pic" sz="quarter" idx="12" hasCustomPrompt="1"/>
          </p:nvPr>
        </p:nvSpPr>
        <p:spPr>
          <a:xfrm>
            <a:off x="4328160" y="3727939"/>
            <a:ext cx="3535680" cy="2600896"/>
          </a:xfrm>
          <a:solidFill>
            <a:schemeClr val="bg1">
              <a:lumMod val="85000"/>
            </a:schemeClr>
          </a:solidFill>
        </p:spPr>
        <p:txBody>
          <a:bodyPr>
            <a:normAutofit/>
          </a:bodyPr>
          <a:lstStyle>
            <a:lvl1pPr marL="0" indent="0">
              <a:buNone/>
              <a:defRPr sz="2133"/>
            </a:lvl1pPr>
          </a:lstStyle>
          <a:p>
            <a:r>
              <a:rPr lang="en-US" dirty="0"/>
              <a:t>Insert image here</a:t>
            </a:r>
          </a:p>
        </p:txBody>
      </p:sp>
      <p:sp>
        <p:nvSpPr>
          <p:cNvPr id="7" name="Picture Placeholder 4">
            <a:extLst>
              <a:ext uri="{FF2B5EF4-FFF2-40B4-BE49-F238E27FC236}">
                <a16:creationId xmlns:a16="http://schemas.microsoft.com/office/drawing/2014/main" id="{FEC72F80-AAAF-2747-9B70-3072CB21FAAD}"/>
              </a:ext>
            </a:extLst>
          </p:cNvPr>
          <p:cNvSpPr>
            <a:spLocks noGrp="1"/>
          </p:cNvSpPr>
          <p:nvPr>
            <p:ph type="pic" sz="quarter" idx="13" hasCustomPrompt="1"/>
          </p:nvPr>
        </p:nvSpPr>
        <p:spPr>
          <a:xfrm>
            <a:off x="8046720" y="3727939"/>
            <a:ext cx="3535680" cy="2600896"/>
          </a:xfrm>
          <a:solidFill>
            <a:schemeClr val="bg1">
              <a:lumMod val="85000"/>
            </a:schemeClr>
          </a:solidFill>
        </p:spPr>
        <p:txBody>
          <a:bodyPr>
            <a:normAutofit/>
          </a:bodyPr>
          <a:lstStyle>
            <a:lvl1pPr marL="0" indent="0">
              <a:buNone/>
              <a:defRPr sz="2133"/>
            </a:lvl1pPr>
          </a:lstStyle>
          <a:p>
            <a:r>
              <a:rPr lang="en-US" dirty="0"/>
              <a:t>Insert image here</a:t>
            </a:r>
          </a:p>
        </p:txBody>
      </p:sp>
      <p:sp>
        <p:nvSpPr>
          <p:cNvPr id="8" name="Chart Placeholder 6">
            <a:extLst>
              <a:ext uri="{FF2B5EF4-FFF2-40B4-BE49-F238E27FC236}">
                <a16:creationId xmlns:a16="http://schemas.microsoft.com/office/drawing/2014/main" id="{EEADAD7D-0DCA-B946-BD57-8AFA7A8BDDF7}"/>
              </a:ext>
            </a:extLst>
          </p:cNvPr>
          <p:cNvSpPr>
            <a:spLocks noGrp="1"/>
          </p:cNvSpPr>
          <p:nvPr>
            <p:ph type="chart" sz="quarter" idx="14" hasCustomPrompt="1"/>
          </p:nvPr>
        </p:nvSpPr>
        <p:spPr>
          <a:xfrm>
            <a:off x="6353909" y="526794"/>
            <a:ext cx="5228491" cy="2902207"/>
          </a:xfrm>
          <a:prstGeom prst="rect">
            <a:avLst/>
          </a:prstGeom>
          <a:solidFill>
            <a:schemeClr val="bg1">
              <a:lumMod val="95000"/>
            </a:schemeClr>
          </a:solidFill>
        </p:spPr>
        <p:txBody>
          <a:bodyPr vert="horz"/>
          <a:lstStyle>
            <a:lvl1pPr marL="0" indent="0">
              <a:buNone/>
              <a:defRPr sz="1600"/>
            </a:lvl1pPr>
          </a:lstStyle>
          <a:p>
            <a:r>
              <a:rPr lang="en-US"/>
              <a:t>Insert Chart</a:t>
            </a:r>
          </a:p>
        </p:txBody>
      </p:sp>
    </p:spTree>
    <p:extLst>
      <p:ext uri="{BB962C8B-B14F-4D97-AF65-F5344CB8AC3E}">
        <p14:creationId xmlns:p14="http://schemas.microsoft.com/office/powerpoint/2010/main" val="35508247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7062278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34720759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15332058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16770582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13644706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41114485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20294811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24749999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7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6268829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userDrawn="1"/>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6563281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ansition Slide - Blue">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userDrawn="1"/>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41807185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Key Messaging - Large Photo">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12192000" cy="6858000"/>
          </a:xfrm>
          <a:solidFill>
            <a:schemeClr val="bg1">
              <a:lumMod val="95000"/>
            </a:schemeClr>
          </a:solidFill>
        </p:spPr>
        <p:txBody>
          <a:bodyPr/>
          <a:lstStyle>
            <a:lvl1pPr marL="0" indent="0" algn="ctr">
              <a:buNone/>
              <a:defRPr baseline="0"/>
            </a:lvl1pPr>
          </a:lstStyle>
          <a:p>
            <a:r>
              <a:rPr lang="en-US"/>
              <a:t>Insert a large image here</a:t>
            </a:r>
          </a:p>
        </p:txBody>
      </p:sp>
      <p:sp>
        <p:nvSpPr>
          <p:cNvPr id="6" name="Text Placeholder 5"/>
          <p:cNvSpPr>
            <a:spLocks noGrp="1"/>
          </p:cNvSpPr>
          <p:nvPr>
            <p:ph type="body" sz="quarter" idx="11" hasCustomPrompt="1"/>
          </p:nvPr>
        </p:nvSpPr>
        <p:spPr>
          <a:xfrm>
            <a:off x="-1" y="2120900"/>
            <a:ext cx="7421039" cy="838200"/>
          </a:xfrm>
          <a:solidFill>
            <a:srgbClr val="000000">
              <a:alpha val="75000"/>
            </a:srgbClr>
          </a:solidFill>
        </p:spPr>
        <p:txBody>
          <a:bodyPr wrap="none" lIns="457200" tIns="0" rIns="457200" bIns="91440" anchor="ctr" anchorCtr="0">
            <a:noAutofit/>
          </a:bodyPr>
          <a:lstStyle>
            <a:lvl1pPr marL="0" indent="0">
              <a:buNone/>
              <a:defRPr sz="48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Key Messaging Slide One</a:t>
            </a:r>
          </a:p>
        </p:txBody>
      </p:sp>
      <p:sp>
        <p:nvSpPr>
          <p:cNvPr id="7" name="Text Placeholder 5"/>
          <p:cNvSpPr>
            <a:spLocks noGrp="1"/>
          </p:cNvSpPr>
          <p:nvPr>
            <p:ph type="body" sz="quarter" idx="12" hasCustomPrompt="1"/>
          </p:nvPr>
        </p:nvSpPr>
        <p:spPr>
          <a:xfrm>
            <a:off x="0" y="3042217"/>
            <a:ext cx="4997165" cy="838200"/>
          </a:xfrm>
          <a:solidFill>
            <a:srgbClr val="000000">
              <a:alpha val="75000"/>
            </a:srgbClr>
          </a:solidFill>
        </p:spPr>
        <p:txBody>
          <a:bodyPr wrap="none" lIns="457200" tIns="0" rIns="457200" bIns="91440" anchor="ctr" anchorCtr="0">
            <a:noAutofit/>
          </a:bodyPr>
          <a:lstStyle>
            <a:lvl1pPr marL="0" indent="0">
              <a:buNone/>
              <a:defRPr sz="48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Transition Slide</a:t>
            </a:r>
          </a:p>
        </p:txBody>
      </p:sp>
    </p:spTree>
    <p:extLst>
      <p:ext uri="{BB962C8B-B14F-4D97-AF65-F5344CB8AC3E}">
        <p14:creationId xmlns:p14="http://schemas.microsoft.com/office/powerpoint/2010/main" val="3349608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ata Slide - Char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0"/>
            <a:ext cx="4279652" cy="2265941"/>
          </a:xfrm>
        </p:spPr>
        <p:txBody>
          <a:bodyPr/>
          <a:lstStyle/>
          <a:p>
            <a:r>
              <a:rPr lang="en-US" dirty="0"/>
              <a:t>Data Slide: </a:t>
            </a:r>
            <a:br>
              <a:rPr lang="en-US" dirty="0"/>
            </a:br>
            <a:r>
              <a:rPr lang="en-US" dirty="0"/>
              <a:t>Keep Title Concise</a:t>
            </a:r>
          </a:p>
        </p:txBody>
      </p:sp>
      <p:sp>
        <p:nvSpPr>
          <p:cNvPr id="4" name="Text Placeholder 3"/>
          <p:cNvSpPr>
            <a:spLocks noGrp="1"/>
          </p:cNvSpPr>
          <p:nvPr>
            <p:ph type="body" sz="quarter" idx="10" hasCustomPrompt="1"/>
          </p:nvPr>
        </p:nvSpPr>
        <p:spPr>
          <a:xfrm>
            <a:off x="5437114" y="556685"/>
            <a:ext cx="6359071" cy="1709257"/>
          </a:xfrm>
        </p:spPr>
        <p:txBody>
          <a:bodyPr lIns="0" tIns="0" rIns="0" bIns="0" anchor="ctr" anchorCtr="0">
            <a:noAutofit/>
          </a:bodyPr>
          <a:lstStyle>
            <a:lvl1pPr marL="0" indent="0">
              <a:buNone/>
              <a:defRPr sz="2667"/>
            </a:lvl1pPr>
          </a:lstStyle>
          <a:p>
            <a:pPr lvl="0"/>
            <a:r>
              <a:rPr lang="en-US" dirty="0"/>
              <a:t>Summary or description text about the slide, charts, data go here.</a:t>
            </a:r>
          </a:p>
        </p:txBody>
      </p:sp>
      <p:sp>
        <p:nvSpPr>
          <p:cNvPr id="5" name="Chart Placeholder 6"/>
          <p:cNvSpPr>
            <a:spLocks noGrp="1"/>
          </p:cNvSpPr>
          <p:nvPr>
            <p:ph type="chart" sz="quarter" idx="11" hasCustomPrompt="1"/>
          </p:nvPr>
        </p:nvSpPr>
        <p:spPr>
          <a:xfrm>
            <a:off x="624418" y="2774774"/>
            <a:ext cx="2511385" cy="1914812"/>
          </a:xfrm>
          <a:prstGeom prst="rect">
            <a:avLst/>
          </a:prstGeom>
        </p:spPr>
        <p:txBody>
          <a:bodyPr vert="horz"/>
          <a:lstStyle>
            <a:lvl1pPr marL="0" indent="0">
              <a:buNone/>
              <a:defRPr sz="1600"/>
            </a:lvl1pPr>
          </a:lstStyle>
          <a:p>
            <a:r>
              <a:rPr lang="en-US"/>
              <a:t>Insert Chart</a:t>
            </a:r>
          </a:p>
        </p:txBody>
      </p:sp>
      <p:sp>
        <p:nvSpPr>
          <p:cNvPr id="10" name="Chart Placeholder 6"/>
          <p:cNvSpPr>
            <a:spLocks noGrp="1"/>
          </p:cNvSpPr>
          <p:nvPr>
            <p:ph type="chart" sz="quarter" idx="12" hasCustomPrompt="1"/>
          </p:nvPr>
        </p:nvSpPr>
        <p:spPr>
          <a:xfrm>
            <a:off x="9284800" y="2774774"/>
            <a:ext cx="2511385" cy="1914812"/>
          </a:xfrm>
          <a:prstGeom prst="rect">
            <a:avLst/>
          </a:prstGeom>
        </p:spPr>
        <p:txBody>
          <a:bodyPr vert="horz"/>
          <a:lstStyle>
            <a:lvl1pPr marL="0" indent="0">
              <a:buNone/>
              <a:defRPr sz="1600"/>
            </a:lvl1pPr>
          </a:lstStyle>
          <a:p>
            <a:r>
              <a:rPr lang="en-US"/>
              <a:t>Insert Chart</a:t>
            </a:r>
          </a:p>
        </p:txBody>
      </p:sp>
      <p:sp>
        <p:nvSpPr>
          <p:cNvPr id="11" name="Chart Placeholder 6"/>
          <p:cNvSpPr>
            <a:spLocks noGrp="1"/>
          </p:cNvSpPr>
          <p:nvPr>
            <p:ph type="chart" sz="quarter" idx="13" hasCustomPrompt="1"/>
          </p:nvPr>
        </p:nvSpPr>
        <p:spPr>
          <a:xfrm>
            <a:off x="6354569" y="2774774"/>
            <a:ext cx="2511385" cy="1914812"/>
          </a:xfrm>
          <a:prstGeom prst="rect">
            <a:avLst/>
          </a:prstGeom>
        </p:spPr>
        <p:txBody>
          <a:bodyPr vert="horz"/>
          <a:lstStyle>
            <a:lvl1pPr marL="0" indent="0">
              <a:buNone/>
              <a:defRPr sz="1600"/>
            </a:lvl1pPr>
          </a:lstStyle>
          <a:p>
            <a:r>
              <a:rPr lang="en-US"/>
              <a:t>Insert Chart</a:t>
            </a:r>
          </a:p>
        </p:txBody>
      </p:sp>
      <p:sp>
        <p:nvSpPr>
          <p:cNvPr id="12" name="Chart Placeholder 6"/>
          <p:cNvSpPr>
            <a:spLocks noGrp="1"/>
          </p:cNvSpPr>
          <p:nvPr>
            <p:ph type="chart" sz="quarter" idx="14" hasCustomPrompt="1"/>
          </p:nvPr>
        </p:nvSpPr>
        <p:spPr>
          <a:xfrm>
            <a:off x="3490746" y="2774774"/>
            <a:ext cx="2511385" cy="1914812"/>
          </a:xfrm>
          <a:prstGeom prst="rect">
            <a:avLst/>
          </a:prstGeom>
        </p:spPr>
        <p:txBody>
          <a:bodyPr vert="horz"/>
          <a:lstStyle>
            <a:lvl1pPr marL="0" indent="0">
              <a:buNone/>
              <a:defRPr sz="1600"/>
            </a:lvl1pPr>
          </a:lstStyle>
          <a:p>
            <a:r>
              <a:rPr lang="en-US"/>
              <a:t>Insert Chart</a:t>
            </a:r>
          </a:p>
        </p:txBody>
      </p:sp>
      <p:sp>
        <p:nvSpPr>
          <p:cNvPr id="14" name="Text Placeholder 13"/>
          <p:cNvSpPr>
            <a:spLocks noGrp="1"/>
          </p:cNvSpPr>
          <p:nvPr>
            <p:ph type="body" sz="quarter" idx="15" hasCustomPrompt="1"/>
          </p:nvPr>
        </p:nvSpPr>
        <p:spPr>
          <a:xfrm>
            <a:off x="624417"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5" name="Text Placeholder 13"/>
          <p:cNvSpPr>
            <a:spLocks noGrp="1"/>
          </p:cNvSpPr>
          <p:nvPr>
            <p:ph type="body" sz="quarter" idx="16" hasCustomPrompt="1"/>
          </p:nvPr>
        </p:nvSpPr>
        <p:spPr>
          <a:xfrm>
            <a:off x="3491765"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6" name="Text Placeholder 13"/>
          <p:cNvSpPr>
            <a:spLocks noGrp="1"/>
          </p:cNvSpPr>
          <p:nvPr>
            <p:ph type="body" sz="quarter" idx="17" hasCustomPrompt="1"/>
          </p:nvPr>
        </p:nvSpPr>
        <p:spPr>
          <a:xfrm>
            <a:off x="6355587"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7" name="Text Placeholder 13"/>
          <p:cNvSpPr>
            <a:spLocks noGrp="1"/>
          </p:cNvSpPr>
          <p:nvPr>
            <p:ph type="body" sz="quarter" idx="18" hasCustomPrompt="1"/>
          </p:nvPr>
        </p:nvSpPr>
        <p:spPr>
          <a:xfrm>
            <a:off x="9284799"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8" name="Text Placeholder 13"/>
          <p:cNvSpPr>
            <a:spLocks noGrp="1"/>
          </p:cNvSpPr>
          <p:nvPr>
            <p:ph type="body" sz="quarter" idx="19" hasCustomPrompt="1"/>
          </p:nvPr>
        </p:nvSpPr>
        <p:spPr>
          <a:xfrm>
            <a:off x="624417" y="6233413"/>
            <a:ext cx="2510367" cy="273596"/>
          </a:xfrm>
        </p:spPr>
        <p:txBody>
          <a:bodyPr lIns="0" tIns="0" rIns="0" bIns="0">
            <a:noAutofit/>
          </a:bodyPr>
          <a:lstStyle>
            <a:lvl1pPr marL="0" indent="0" algn="l">
              <a:buNone/>
              <a:defRPr sz="1333" baseline="0"/>
            </a:lvl1pPr>
            <a:lvl2pPr>
              <a:defRPr sz="1867"/>
            </a:lvl2pPr>
            <a:lvl3pPr>
              <a:defRPr sz="1867"/>
            </a:lvl3pPr>
            <a:lvl4pPr>
              <a:defRPr sz="1867"/>
            </a:lvl4pPr>
            <a:lvl5pPr>
              <a:defRPr sz="1867"/>
            </a:lvl5pPr>
          </a:lstStyle>
          <a:p>
            <a:pPr lvl="0"/>
            <a:r>
              <a:rPr lang="en-US"/>
              <a:t>Data citation</a:t>
            </a:r>
          </a:p>
        </p:txBody>
      </p:sp>
      <p:sp>
        <p:nvSpPr>
          <p:cNvPr id="19" name="TextBox 18"/>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t>NREL</a:t>
            </a:r>
            <a:r>
              <a:rPr lang="en-US" sz="1067" baseline="0" dirty="0"/>
              <a:t>    </a:t>
            </a:r>
            <a:r>
              <a:rPr lang="en-US" sz="1067" dirty="0"/>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p>
        </p:txBody>
      </p:sp>
    </p:spTree>
    <p:extLst>
      <p:ext uri="{BB962C8B-B14F-4D97-AF65-F5344CB8AC3E}">
        <p14:creationId xmlns:p14="http://schemas.microsoft.com/office/powerpoint/2010/main" val="17509534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Slide - Infographic Large Photo">
    <p:spTree>
      <p:nvGrpSpPr>
        <p:cNvPr id="1" name=""/>
        <p:cNvGrpSpPr/>
        <p:nvPr/>
      </p:nvGrpSpPr>
      <p:grpSpPr>
        <a:xfrm>
          <a:off x="0" y="0"/>
          <a:ext cx="0" cy="0"/>
          <a:chOff x="0" y="0"/>
          <a:chExt cx="0" cy="0"/>
        </a:xfrm>
      </p:grpSpPr>
      <p:sp>
        <p:nvSpPr>
          <p:cNvPr id="29" name="Picture Placeholder 28"/>
          <p:cNvSpPr>
            <a:spLocks noGrp="1"/>
          </p:cNvSpPr>
          <p:nvPr>
            <p:ph type="pic" sz="quarter" idx="49" hasCustomPrompt="1"/>
          </p:nvPr>
        </p:nvSpPr>
        <p:spPr>
          <a:xfrm>
            <a:off x="0" y="0"/>
            <a:ext cx="12192000" cy="6858000"/>
          </a:xfrm>
        </p:spPr>
        <p:txBody>
          <a:bodyPr>
            <a:normAutofit/>
          </a:bodyPr>
          <a:lstStyle>
            <a:lvl1pPr marL="0" indent="0" algn="r">
              <a:buNone/>
              <a:defRPr sz="2400"/>
            </a:lvl1pPr>
          </a:lstStyle>
          <a:p>
            <a:r>
              <a:rPr lang="en-US"/>
              <a:t>Insert a large image here</a:t>
            </a:r>
          </a:p>
        </p:txBody>
      </p:sp>
      <p:sp>
        <p:nvSpPr>
          <p:cNvPr id="16" name="Text Placeholder 6"/>
          <p:cNvSpPr>
            <a:spLocks noGrp="1"/>
          </p:cNvSpPr>
          <p:nvPr>
            <p:ph type="body" sz="quarter" idx="40"/>
          </p:nvPr>
        </p:nvSpPr>
        <p:spPr>
          <a:xfrm>
            <a:off x="0" y="3414950"/>
            <a:ext cx="12192000" cy="2644161"/>
          </a:xfrm>
          <a:prstGeom prst="rect">
            <a:avLst/>
          </a:prstGeom>
          <a:solidFill>
            <a:schemeClr val="bg1">
              <a:lumMod val="95000"/>
              <a:alpha val="85000"/>
            </a:schemeClr>
          </a:solidFill>
        </p:spPr>
        <p:txBody>
          <a:bodyPr vert="horz"/>
          <a:lstStyle>
            <a:lvl1pPr marL="0" indent="0" algn="ctr">
              <a:buNone/>
              <a:defRPr sz="133">
                <a:solidFill>
                  <a:srgbClr val="333333"/>
                </a:solidFill>
              </a:defRPr>
            </a:lvl1pPr>
          </a:lstStyle>
          <a:p>
            <a:pPr lvl="0"/>
            <a:r>
              <a:rPr lang="en-US"/>
              <a:t>Edit Master text styles</a:t>
            </a:r>
          </a:p>
        </p:txBody>
      </p:sp>
      <p:sp>
        <p:nvSpPr>
          <p:cNvPr id="17" name="Text Placeholder 3"/>
          <p:cNvSpPr>
            <a:spLocks noGrp="1"/>
          </p:cNvSpPr>
          <p:nvPr>
            <p:ph type="body" sz="quarter" idx="18" hasCustomPrompt="1"/>
          </p:nvPr>
        </p:nvSpPr>
        <p:spPr>
          <a:xfrm>
            <a:off x="624417"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18" name="Text Placeholder 17"/>
          <p:cNvSpPr>
            <a:spLocks noGrp="1"/>
          </p:cNvSpPr>
          <p:nvPr>
            <p:ph type="body" sz="quarter" idx="19" hasCustomPrompt="1"/>
          </p:nvPr>
        </p:nvSpPr>
        <p:spPr>
          <a:xfrm>
            <a:off x="624418"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19" name="Text Placeholder 3"/>
          <p:cNvSpPr>
            <a:spLocks noGrp="1"/>
          </p:cNvSpPr>
          <p:nvPr>
            <p:ph type="body" sz="quarter" idx="41" hasCustomPrompt="1"/>
          </p:nvPr>
        </p:nvSpPr>
        <p:spPr>
          <a:xfrm>
            <a:off x="2926493"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0" name="Text Placeholder 17"/>
          <p:cNvSpPr>
            <a:spLocks noGrp="1"/>
          </p:cNvSpPr>
          <p:nvPr>
            <p:ph type="body" sz="quarter" idx="42" hasCustomPrompt="1"/>
          </p:nvPr>
        </p:nvSpPr>
        <p:spPr>
          <a:xfrm>
            <a:off x="292649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1" name="Text Placeholder 3"/>
          <p:cNvSpPr>
            <a:spLocks noGrp="1"/>
          </p:cNvSpPr>
          <p:nvPr>
            <p:ph type="body" sz="quarter" idx="43" hasCustomPrompt="1"/>
          </p:nvPr>
        </p:nvSpPr>
        <p:spPr>
          <a:xfrm>
            <a:off x="5241522"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2" name="Text Placeholder 17"/>
          <p:cNvSpPr>
            <a:spLocks noGrp="1"/>
          </p:cNvSpPr>
          <p:nvPr>
            <p:ph type="body" sz="quarter" idx="44" hasCustomPrompt="1"/>
          </p:nvPr>
        </p:nvSpPr>
        <p:spPr>
          <a:xfrm>
            <a:off x="524152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3" name="Text Placeholder 3"/>
          <p:cNvSpPr>
            <a:spLocks noGrp="1"/>
          </p:cNvSpPr>
          <p:nvPr>
            <p:ph type="body" sz="quarter" idx="45" hasCustomPrompt="1"/>
          </p:nvPr>
        </p:nvSpPr>
        <p:spPr>
          <a:xfrm>
            <a:off x="7540880"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4" name="Text Placeholder 17"/>
          <p:cNvSpPr>
            <a:spLocks noGrp="1"/>
          </p:cNvSpPr>
          <p:nvPr>
            <p:ph type="body" sz="quarter" idx="46" hasCustomPrompt="1"/>
          </p:nvPr>
        </p:nvSpPr>
        <p:spPr>
          <a:xfrm>
            <a:off x="7540881"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5" name="Text Placeholder 3"/>
          <p:cNvSpPr>
            <a:spLocks noGrp="1"/>
          </p:cNvSpPr>
          <p:nvPr>
            <p:ph type="body" sz="quarter" idx="47" hasCustomPrompt="1"/>
          </p:nvPr>
        </p:nvSpPr>
        <p:spPr>
          <a:xfrm>
            <a:off x="9782136"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6" name="Text Placeholder 17"/>
          <p:cNvSpPr>
            <a:spLocks noGrp="1"/>
          </p:cNvSpPr>
          <p:nvPr>
            <p:ph type="body" sz="quarter" idx="48" hasCustomPrompt="1"/>
          </p:nvPr>
        </p:nvSpPr>
        <p:spPr>
          <a:xfrm>
            <a:off x="9782137"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32" name="Title 31"/>
          <p:cNvSpPr>
            <a:spLocks noGrp="1"/>
          </p:cNvSpPr>
          <p:nvPr>
            <p:ph type="title" hasCustomPrompt="1"/>
          </p:nvPr>
        </p:nvSpPr>
        <p:spPr>
          <a:xfrm>
            <a:off x="609600" y="0"/>
            <a:ext cx="4284680" cy="2272344"/>
          </a:xfrm>
        </p:spPr>
        <p:txBody>
          <a:bodyPr/>
          <a:lstStyle/>
          <a:p>
            <a:r>
              <a:rPr lang="en-US"/>
              <a:t>Messaging + Blue Infographic Content</a:t>
            </a:r>
          </a:p>
        </p:txBody>
      </p:sp>
      <p:sp>
        <p:nvSpPr>
          <p:cNvPr id="33" name="Picture Placeholder 24"/>
          <p:cNvSpPr>
            <a:spLocks noGrp="1" noChangeAspect="1"/>
          </p:cNvSpPr>
          <p:nvPr>
            <p:ph type="pic" sz="quarter" idx="50" hasCustomPrompt="1"/>
          </p:nvPr>
        </p:nvSpPr>
        <p:spPr>
          <a:xfrm>
            <a:off x="65424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dirty="0"/>
              <a:t>Insert icon</a:t>
            </a:r>
          </a:p>
        </p:txBody>
      </p:sp>
      <p:sp>
        <p:nvSpPr>
          <p:cNvPr id="35" name="Picture Placeholder 24"/>
          <p:cNvSpPr>
            <a:spLocks noGrp="1" noChangeAspect="1"/>
          </p:cNvSpPr>
          <p:nvPr>
            <p:ph type="pic" sz="quarter" idx="51" hasCustomPrompt="1"/>
          </p:nvPr>
        </p:nvSpPr>
        <p:spPr>
          <a:xfrm>
            <a:off x="2986149"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36" name="Picture Placeholder 24"/>
          <p:cNvSpPr>
            <a:spLocks noGrp="1" noChangeAspect="1"/>
          </p:cNvSpPr>
          <p:nvPr>
            <p:ph type="pic" sz="quarter" idx="52" hasCustomPrompt="1"/>
          </p:nvPr>
        </p:nvSpPr>
        <p:spPr>
          <a:xfrm>
            <a:off x="5234712"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37" name="Picture Placeholder 24"/>
          <p:cNvSpPr>
            <a:spLocks noGrp="1" noChangeAspect="1"/>
          </p:cNvSpPr>
          <p:nvPr>
            <p:ph type="pic" sz="quarter" idx="53" hasCustomPrompt="1"/>
          </p:nvPr>
        </p:nvSpPr>
        <p:spPr>
          <a:xfrm>
            <a:off x="756758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38" name="Picture Placeholder 24"/>
          <p:cNvSpPr>
            <a:spLocks noGrp="1" noChangeAspect="1"/>
          </p:cNvSpPr>
          <p:nvPr>
            <p:ph type="pic" sz="quarter" idx="54" hasCustomPrompt="1"/>
          </p:nvPr>
        </p:nvSpPr>
        <p:spPr>
          <a:xfrm>
            <a:off x="9782135"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Tree>
    <p:extLst>
      <p:ext uri="{BB962C8B-B14F-4D97-AF65-F5344CB8AC3E}">
        <p14:creationId xmlns:p14="http://schemas.microsoft.com/office/powerpoint/2010/main" val="19721221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Slide - Infographic Half Photo">
    <p:spTree>
      <p:nvGrpSpPr>
        <p:cNvPr id="1" name=""/>
        <p:cNvGrpSpPr/>
        <p:nvPr/>
      </p:nvGrpSpPr>
      <p:grpSpPr>
        <a:xfrm>
          <a:off x="0" y="0"/>
          <a:ext cx="0" cy="0"/>
          <a:chOff x="0" y="0"/>
          <a:chExt cx="0" cy="0"/>
        </a:xfrm>
      </p:grpSpPr>
      <p:sp>
        <p:nvSpPr>
          <p:cNvPr id="3" name="Picture Placeholder 2"/>
          <p:cNvSpPr>
            <a:spLocks noGrp="1"/>
          </p:cNvSpPr>
          <p:nvPr>
            <p:ph type="pic" sz="quarter" idx="49" hasCustomPrompt="1"/>
          </p:nvPr>
        </p:nvSpPr>
        <p:spPr>
          <a:xfrm>
            <a:off x="0" y="1"/>
            <a:ext cx="12192000" cy="3577167"/>
          </a:xfrm>
          <a:solidFill>
            <a:schemeClr val="bg1">
              <a:lumMod val="85000"/>
            </a:schemeClr>
          </a:solidFill>
        </p:spPr>
        <p:txBody>
          <a:bodyPr>
            <a:normAutofit/>
          </a:bodyPr>
          <a:lstStyle>
            <a:lvl1pPr marL="0" indent="0" algn="r">
              <a:buNone/>
              <a:defRPr sz="2133"/>
            </a:lvl1pPr>
          </a:lstStyle>
          <a:p>
            <a:r>
              <a:rPr lang="en-US" dirty="0"/>
              <a:t>Insert a large image here</a:t>
            </a:r>
          </a:p>
        </p:txBody>
      </p:sp>
      <p:sp>
        <p:nvSpPr>
          <p:cNvPr id="17" name="Text Placeholder 3"/>
          <p:cNvSpPr>
            <a:spLocks noGrp="1"/>
          </p:cNvSpPr>
          <p:nvPr>
            <p:ph type="body" sz="quarter" idx="18" hasCustomPrompt="1"/>
          </p:nvPr>
        </p:nvSpPr>
        <p:spPr>
          <a:xfrm>
            <a:off x="624417"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18" name="Text Placeholder 17"/>
          <p:cNvSpPr>
            <a:spLocks noGrp="1"/>
          </p:cNvSpPr>
          <p:nvPr>
            <p:ph type="body" sz="quarter" idx="19" hasCustomPrompt="1"/>
          </p:nvPr>
        </p:nvSpPr>
        <p:spPr>
          <a:xfrm>
            <a:off x="624418"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19" name="Text Placeholder 3"/>
          <p:cNvSpPr>
            <a:spLocks noGrp="1"/>
          </p:cNvSpPr>
          <p:nvPr>
            <p:ph type="body" sz="quarter" idx="41" hasCustomPrompt="1"/>
          </p:nvPr>
        </p:nvSpPr>
        <p:spPr>
          <a:xfrm>
            <a:off x="2926493"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0" name="Text Placeholder 17"/>
          <p:cNvSpPr>
            <a:spLocks noGrp="1"/>
          </p:cNvSpPr>
          <p:nvPr>
            <p:ph type="body" sz="quarter" idx="42" hasCustomPrompt="1"/>
          </p:nvPr>
        </p:nvSpPr>
        <p:spPr>
          <a:xfrm>
            <a:off x="292649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1" name="Text Placeholder 3"/>
          <p:cNvSpPr>
            <a:spLocks noGrp="1"/>
          </p:cNvSpPr>
          <p:nvPr>
            <p:ph type="body" sz="quarter" idx="43" hasCustomPrompt="1"/>
          </p:nvPr>
        </p:nvSpPr>
        <p:spPr>
          <a:xfrm>
            <a:off x="5241522"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2" name="Text Placeholder 17"/>
          <p:cNvSpPr>
            <a:spLocks noGrp="1"/>
          </p:cNvSpPr>
          <p:nvPr>
            <p:ph type="body" sz="quarter" idx="44" hasCustomPrompt="1"/>
          </p:nvPr>
        </p:nvSpPr>
        <p:spPr>
          <a:xfrm>
            <a:off x="524152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3" name="Text Placeholder 3"/>
          <p:cNvSpPr>
            <a:spLocks noGrp="1"/>
          </p:cNvSpPr>
          <p:nvPr>
            <p:ph type="body" sz="quarter" idx="45" hasCustomPrompt="1"/>
          </p:nvPr>
        </p:nvSpPr>
        <p:spPr>
          <a:xfrm>
            <a:off x="7540880"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4" name="Text Placeholder 17"/>
          <p:cNvSpPr>
            <a:spLocks noGrp="1"/>
          </p:cNvSpPr>
          <p:nvPr>
            <p:ph type="body" sz="quarter" idx="46" hasCustomPrompt="1"/>
          </p:nvPr>
        </p:nvSpPr>
        <p:spPr>
          <a:xfrm>
            <a:off x="7540881"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5" name="Text Placeholder 3"/>
          <p:cNvSpPr>
            <a:spLocks noGrp="1"/>
          </p:cNvSpPr>
          <p:nvPr>
            <p:ph type="body" sz="quarter" idx="47" hasCustomPrompt="1"/>
          </p:nvPr>
        </p:nvSpPr>
        <p:spPr>
          <a:xfrm>
            <a:off x="9782136"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6" name="Text Placeholder 17"/>
          <p:cNvSpPr>
            <a:spLocks noGrp="1"/>
          </p:cNvSpPr>
          <p:nvPr>
            <p:ph type="body" sz="quarter" idx="48" hasCustomPrompt="1"/>
          </p:nvPr>
        </p:nvSpPr>
        <p:spPr>
          <a:xfrm>
            <a:off x="9782137"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8" name="Title 31"/>
          <p:cNvSpPr>
            <a:spLocks noGrp="1"/>
          </p:cNvSpPr>
          <p:nvPr>
            <p:ph type="title" hasCustomPrompt="1"/>
          </p:nvPr>
        </p:nvSpPr>
        <p:spPr>
          <a:xfrm>
            <a:off x="609600" y="0"/>
            <a:ext cx="4284680" cy="2272344"/>
          </a:xfrm>
        </p:spPr>
        <p:txBody>
          <a:bodyPr/>
          <a:lstStyle/>
          <a:p>
            <a:r>
              <a:rPr lang="en-US"/>
              <a:t>Messaging + Blue Infographic Content</a:t>
            </a:r>
          </a:p>
        </p:txBody>
      </p:sp>
      <p:sp>
        <p:nvSpPr>
          <p:cNvPr id="39" name="Picture Placeholder 24"/>
          <p:cNvSpPr>
            <a:spLocks noGrp="1" noChangeAspect="1"/>
          </p:cNvSpPr>
          <p:nvPr>
            <p:ph type="pic" sz="quarter" idx="50" hasCustomPrompt="1"/>
          </p:nvPr>
        </p:nvSpPr>
        <p:spPr>
          <a:xfrm>
            <a:off x="65424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dirty="0"/>
              <a:t>Insert icon</a:t>
            </a:r>
          </a:p>
        </p:txBody>
      </p:sp>
      <p:sp>
        <p:nvSpPr>
          <p:cNvPr id="40" name="Picture Placeholder 24"/>
          <p:cNvSpPr>
            <a:spLocks noGrp="1" noChangeAspect="1"/>
          </p:cNvSpPr>
          <p:nvPr>
            <p:ph type="pic" sz="quarter" idx="51" hasCustomPrompt="1"/>
          </p:nvPr>
        </p:nvSpPr>
        <p:spPr>
          <a:xfrm>
            <a:off x="2986149"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41" name="Picture Placeholder 24"/>
          <p:cNvSpPr>
            <a:spLocks noGrp="1" noChangeAspect="1"/>
          </p:cNvSpPr>
          <p:nvPr>
            <p:ph type="pic" sz="quarter" idx="52" hasCustomPrompt="1"/>
          </p:nvPr>
        </p:nvSpPr>
        <p:spPr>
          <a:xfrm>
            <a:off x="5234712"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42" name="Picture Placeholder 24"/>
          <p:cNvSpPr>
            <a:spLocks noGrp="1" noChangeAspect="1"/>
          </p:cNvSpPr>
          <p:nvPr>
            <p:ph type="pic" sz="quarter" idx="53" hasCustomPrompt="1"/>
          </p:nvPr>
        </p:nvSpPr>
        <p:spPr>
          <a:xfrm>
            <a:off x="756758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43" name="Picture Placeholder 24"/>
          <p:cNvSpPr>
            <a:spLocks noGrp="1" noChangeAspect="1"/>
          </p:cNvSpPr>
          <p:nvPr>
            <p:ph type="pic" sz="quarter" idx="54" hasCustomPrompt="1"/>
          </p:nvPr>
        </p:nvSpPr>
        <p:spPr>
          <a:xfrm>
            <a:off x="9782135"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Tree>
    <p:extLst>
      <p:ext uri="{BB962C8B-B14F-4D97-AF65-F5344CB8AC3E}">
        <p14:creationId xmlns:p14="http://schemas.microsoft.com/office/powerpoint/2010/main" val="11759364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Slide - Half Photo">
    <p:spTree>
      <p:nvGrpSpPr>
        <p:cNvPr id="1" name=""/>
        <p:cNvGrpSpPr/>
        <p:nvPr/>
      </p:nvGrpSpPr>
      <p:grpSpPr>
        <a:xfrm>
          <a:off x="0" y="0"/>
          <a:ext cx="0" cy="0"/>
          <a:chOff x="0" y="0"/>
          <a:chExt cx="0" cy="0"/>
        </a:xfrm>
      </p:grpSpPr>
      <p:sp>
        <p:nvSpPr>
          <p:cNvPr id="3" name="Picture Placeholder 2"/>
          <p:cNvSpPr>
            <a:spLocks noGrp="1"/>
          </p:cNvSpPr>
          <p:nvPr>
            <p:ph type="pic" sz="quarter" idx="49" hasCustomPrompt="1"/>
          </p:nvPr>
        </p:nvSpPr>
        <p:spPr>
          <a:xfrm>
            <a:off x="0" y="1"/>
            <a:ext cx="12192000" cy="3577167"/>
          </a:xfrm>
          <a:solidFill>
            <a:schemeClr val="bg1">
              <a:lumMod val="85000"/>
            </a:schemeClr>
          </a:solidFill>
        </p:spPr>
        <p:txBody>
          <a:bodyPr>
            <a:normAutofit/>
          </a:bodyPr>
          <a:lstStyle>
            <a:lvl1pPr marL="0" indent="0" algn="r">
              <a:buNone/>
              <a:defRPr sz="2133"/>
            </a:lvl1pPr>
          </a:lstStyle>
          <a:p>
            <a:r>
              <a:rPr lang="en-US" dirty="0"/>
              <a:t>Insert a large image here</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5" name="Text Placeholder 14"/>
          <p:cNvSpPr>
            <a:spLocks noGrp="1"/>
          </p:cNvSpPr>
          <p:nvPr>
            <p:ph type="body" sz="quarter" idx="50" hasCustomPrompt="1"/>
          </p:nvPr>
        </p:nvSpPr>
        <p:spPr>
          <a:xfrm>
            <a:off x="639234" y="3958167"/>
            <a:ext cx="11023581" cy="2317751"/>
          </a:xfrm>
        </p:spPr>
        <p:txBody>
          <a:bodyPr lIns="0" tIns="0" rIns="0" bIns="0">
            <a:noAutofit/>
          </a:bodyPr>
          <a:lstStyle>
            <a:lvl1pPr marL="0" indent="0">
              <a:buNone/>
              <a:defRPr sz="2667"/>
            </a:lvl1pPr>
            <a:lvl2pPr marL="609585" indent="0">
              <a:buNone/>
              <a:defRPr sz="2667"/>
            </a:lvl2pPr>
            <a:lvl3pPr marL="1219170" indent="0">
              <a:buNone/>
              <a:defRPr sz="2667"/>
            </a:lvl3pPr>
            <a:lvl4pPr marL="1828754" indent="0">
              <a:buNone/>
              <a:defRPr sz="2667"/>
            </a:lvl4pPr>
            <a:lvl5pPr marL="2438339" indent="0">
              <a:buNone/>
              <a:defRPr sz="2667"/>
            </a:lvl5pPr>
          </a:lstStyle>
          <a:p>
            <a:pPr lvl="0"/>
            <a:r>
              <a:rPr lang="en-US"/>
              <a:t>Short Slide Summary</a:t>
            </a:r>
          </a:p>
        </p:txBody>
      </p:sp>
      <p:sp>
        <p:nvSpPr>
          <p:cNvPr id="2" name="Title 1"/>
          <p:cNvSpPr>
            <a:spLocks noGrp="1"/>
          </p:cNvSpPr>
          <p:nvPr>
            <p:ph type="title" hasCustomPrompt="1"/>
          </p:nvPr>
        </p:nvSpPr>
        <p:spPr>
          <a:xfrm>
            <a:off x="0" y="2931736"/>
            <a:ext cx="6582643" cy="629788"/>
          </a:xfrm>
        </p:spPr>
        <p:txBody>
          <a:bodyPr lIns="274320" tIns="91440" bIns="45720">
            <a:spAutoFit/>
          </a:bodyPr>
          <a:lstStyle>
            <a:lvl1pPr algn="l">
              <a:defRPr/>
            </a:lvl1pPr>
          </a:lstStyle>
          <a:p>
            <a:pPr lvl="0"/>
            <a:r>
              <a:rPr lang="en-US"/>
              <a:t>Title: Content Slide</a:t>
            </a:r>
            <a:endParaRPr lang="en-US" dirty="0"/>
          </a:p>
        </p:txBody>
      </p:sp>
    </p:spTree>
    <p:extLst>
      <p:ext uri="{BB962C8B-B14F-4D97-AF65-F5344CB8AC3E}">
        <p14:creationId xmlns:p14="http://schemas.microsoft.com/office/powerpoint/2010/main" val="27510257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Slide - Half Blue - Half 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12192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4715934"/>
            <a:ext cx="4411133" cy="1462617"/>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4715934"/>
            <a:ext cx="6189939" cy="1462617"/>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0" y="1"/>
            <a:ext cx="12192000" cy="4273551"/>
          </a:xfrm>
          <a:solidFill>
            <a:schemeClr val="bg1">
              <a:lumMod val="95000"/>
            </a:schemeClr>
          </a:solidFill>
        </p:spPr>
        <p:txBody>
          <a:bodyPr/>
          <a:lstStyle>
            <a:lvl1pPr marL="0" indent="0" algn="ctr">
              <a:buNone/>
              <a:defRPr/>
            </a:lvl1pPr>
          </a:lstStyle>
          <a:p>
            <a:r>
              <a:rPr lang="en-US" dirty="0"/>
              <a:t>Insert Photo or Graphic</a:t>
            </a:r>
          </a:p>
        </p:txBody>
      </p:sp>
    </p:spTree>
    <p:extLst>
      <p:ext uri="{BB962C8B-B14F-4D97-AF65-F5344CB8AC3E}">
        <p14:creationId xmlns:p14="http://schemas.microsoft.com/office/powerpoint/2010/main" val="35501748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ontent Slide - Half Blue 1">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12192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4715934"/>
            <a:ext cx="4411133" cy="1462617"/>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4715934"/>
            <a:ext cx="6189939" cy="1462617"/>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12192000" cy="4272595"/>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10307747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ontent Slide - Half Blue 2">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12192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4715934"/>
            <a:ext cx="4411133" cy="1462617"/>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4715934"/>
            <a:ext cx="6189939" cy="1462617"/>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7" name="Text Placeholder 7">
            <a:extLst>
              <a:ext uri="{FF2B5EF4-FFF2-40B4-BE49-F238E27FC236}">
                <a16:creationId xmlns:a16="http://schemas.microsoft.com/office/drawing/2014/main" id="{2736CC6A-2FA9-E242-A5D0-FCF48179A1F7}"/>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30873181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Content Slide - Half Blue 1">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5536819"/>
            <a:ext cx="12192000" cy="13211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5759695"/>
            <a:ext cx="4411133" cy="641732"/>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5759695"/>
            <a:ext cx="6189939" cy="641732"/>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12192000" cy="553681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6110543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Content Slide - Half Blue 1">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5536819"/>
            <a:ext cx="12192000" cy="13211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5759695"/>
            <a:ext cx="4411133" cy="641732"/>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5759695"/>
            <a:ext cx="6189939" cy="641732"/>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8890229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4302269" y="0"/>
            <a:ext cx="7889731" cy="68580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16871023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1999130" y="0"/>
            <a:ext cx="10192871" cy="68580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19046618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7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999744" y="0"/>
            <a:ext cx="11192257" cy="68580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40892884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4302269" y="0"/>
            <a:ext cx="7889731" cy="685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5152165"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7473911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1999486" y="0"/>
            <a:ext cx="10192513" cy="685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2849383"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8E2A80C-EB6E-8C4C-AB43-79FC52672C2F}"/>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Text Placeholder 7">
            <a:extLst>
              <a:ext uri="{FF2B5EF4-FFF2-40B4-BE49-F238E27FC236}">
                <a16:creationId xmlns:a16="http://schemas.microsoft.com/office/drawing/2014/main" id="{7B2998EE-741E-8640-80ED-7C22B48449F9}"/>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1576220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8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999744" y="0"/>
            <a:ext cx="11192257" cy="685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1849640"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8" name="Rectangle 7">
            <a:extLst>
              <a:ext uri="{FF2B5EF4-FFF2-40B4-BE49-F238E27FC236}">
                <a16:creationId xmlns:a16="http://schemas.microsoft.com/office/drawing/2014/main" id="{C6FB4065-B034-894F-B2AD-10DA51A4FF51}"/>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7136215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9D95246B-679C-0C47-B3E3-F6535A89622F}"/>
              </a:ext>
            </a:extLst>
          </p:cNvPr>
          <p:cNvSpPr>
            <a:spLocks noGrp="1"/>
          </p:cNvSpPr>
          <p:nvPr>
            <p:ph type="body" sz="quarter" idx="53" hasCustomPrompt="1"/>
          </p:nvPr>
        </p:nvSpPr>
        <p:spPr>
          <a:xfrm>
            <a:off x="5152165"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8923497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6_Content Slide -  Vertical Blue/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2849383"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8E2A80C-EB6E-8C4C-AB43-79FC52672C2F}"/>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Text Placeholder 7">
            <a:extLst>
              <a:ext uri="{FF2B5EF4-FFF2-40B4-BE49-F238E27FC236}">
                <a16:creationId xmlns:a16="http://schemas.microsoft.com/office/drawing/2014/main" id="{7B2998EE-741E-8640-80ED-7C22B48449F9}"/>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36583252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9_Content Slide -  Vertical Blue/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1828800"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7" name="Rectangle 6">
            <a:extLst>
              <a:ext uri="{FF2B5EF4-FFF2-40B4-BE49-F238E27FC236}">
                <a16:creationId xmlns:a16="http://schemas.microsoft.com/office/drawing/2014/main" id="{CAF46C4D-EA55-834D-A1ED-486FAB3B53C7}"/>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6175289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4302269" y="0"/>
            <a:ext cx="7889731" cy="342900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4302269" y="3429000"/>
            <a:ext cx="7889731"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5173956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1999488" y="0"/>
            <a:ext cx="10192513" cy="342900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1999488" y="3429000"/>
            <a:ext cx="10192513"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Rectangle 10">
            <a:extLst>
              <a:ext uri="{FF2B5EF4-FFF2-40B4-BE49-F238E27FC236}">
                <a16:creationId xmlns:a16="http://schemas.microsoft.com/office/drawing/2014/main" id="{4ABA21AF-1C86-484E-8C81-8214908BC04B}"/>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2" name="Text Placeholder 7">
            <a:extLst>
              <a:ext uri="{FF2B5EF4-FFF2-40B4-BE49-F238E27FC236}">
                <a16:creationId xmlns:a16="http://schemas.microsoft.com/office/drawing/2014/main" id="{F6D85388-BAE4-4F43-AA76-E25591032497}"/>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3497633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999744" y="0"/>
            <a:ext cx="11192257" cy="342900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999744" y="3429000"/>
            <a:ext cx="11192257"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8" name="Rectangle 7">
            <a:extLst>
              <a:ext uri="{FF2B5EF4-FFF2-40B4-BE49-F238E27FC236}">
                <a16:creationId xmlns:a16="http://schemas.microsoft.com/office/drawing/2014/main" id="{199804E5-74BF-BD47-85E5-EA49688872F8}"/>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4081039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4302269" y="3429000"/>
            <a:ext cx="7889731"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4865295"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0058657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1999486" y="3429000"/>
            <a:ext cx="10192513"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2562512"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FAAD8C3-A811-7F49-ABE6-460F673A0377}"/>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Text Placeholder 7">
            <a:extLst>
              <a:ext uri="{FF2B5EF4-FFF2-40B4-BE49-F238E27FC236}">
                <a16:creationId xmlns:a16="http://schemas.microsoft.com/office/drawing/2014/main" id="{0B0CD720-AECF-2546-AD56-838BD33350C3}"/>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37555684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999744" y="3429000"/>
            <a:ext cx="11192257"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1562769"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8" name="Rectangle 7">
            <a:extLst>
              <a:ext uri="{FF2B5EF4-FFF2-40B4-BE49-F238E27FC236}">
                <a16:creationId xmlns:a16="http://schemas.microsoft.com/office/drawing/2014/main" id="{D9F44E30-1CE7-304C-AF61-09BD499EEA25}"/>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9809242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hoto Slide - Multip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Photo Slide</a:t>
            </a:r>
          </a:p>
        </p:txBody>
      </p:sp>
      <p:sp>
        <p:nvSpPr>
          <p:cNvPr id="3" name="Picture Placeholder 2"/>
          <p:cNvSpPr>
            <a:spLocks noGrp="1"/>
          </p:cNvSpPr>
          <p:nvPr>
            <p:ph type="pic" sz="quarter" idx="21" hasCustomPrompt="1"/>
          </p:nvPr>
        </p:nvSpPr>
        <p:spPr>
          <a:xfrm>
            <a:off x="609600" y="1855841"/>
            <a:ext cx="5497435" cy="3389856"/>
          </a:xfrm>
          <a:prstGeom prst="rect">
            <a:avLst/>
          </a:prstGeom>
          <a:solidFill>
            <a:schemeClr val="bg1">
              <a:lumMod val="85000"/>
            </a:schemeClr>
          </a:solidFill>
        </p:spPr>
        <p:txBody>
          <a:bodyPr vert="horz"/>
          <a:lstStyle>
            <a:lvl1pPr marL="0" marR="0" indent="0" algn="l" defTabSz="609585" rtl="0" eaLnBrk="1" fontAlgn="auto" latinLnBrk="0" hangingPunct="1">
              <a:lnSpc>
                <a:spcPct val="100000"/>
              </a:lnSpc>
              <a:spcBef>
                <a:spcPct val="20000"/>
              </a:spcBef>
              <a:spcAft>
                <a:spcPts val="0"/>
              </a:spcAft>
              <a:buClrTx/>
              <a:buSzTx/>
              <a:buFont typeface="Arial"/>
              <a:buNone/>
              <a:tabLst/>
              <a:defRPr sz="1600"/>
            </a:lvl1pPr>
          </a:lstStyle>
          <a:p>
            <a:r>
              <a:rPr lang="en-US"/>
              <a:t>Insert Photo</a:t>
            </a:r>
          </a:p>
        </p:txBody>
      </p:sp>
      <p:sp>
        <p:nvSpPr>
          <p:cNvPr id="4" name="Text Placeholder 27"/>
          <p:cNvSpPr>
            <a:spLocks noGrp="1"/>
          </p:cNvSpPr>
          <p:nvPr>
            <p:ph type="body" sz="quarter" idx="20" hasCustomPrompt="1"/>
          </p:nvPr>
        </p:nvSpPr>
        <p:spPr>
          <a:xfrm>
            <a:off x="609600" y="5454634"/>
            <a:ext cx="5497435" cy="969684"/>
          </a:xfrm>
          <a:prstGeom prst="rect">
            <a:avLst/>
          </a:prstGeom>
        </p:spPr>
        <p:txBody>
          <a:bodyPr vert="horz" lIns="0" tIns="0" rIns="0" bIns="0" anchor="t" anchorCtr="0"/>
          <a:lstStyle>
            <a:lvl1pPr marL="0" indent="0">
              <a:spcBef>
                <a:spcPts val="1333"/>
              </a:spcBef>
              <a:buFont typeface="Arial"/>
              <a:buNone/>
              <a:defRPr sz="2400" baseline="0"/>
            </a:lvl1pPr>
          </a:lstStyle>
          <a:p>
            <a:pPr lvl="0"/>
            <a:r>
              <a:rPr lang="en-US"/>
              <a:t>Description of the photo/image</a:t>
            </a:r>
          </a:p>
        </p:txBody>
      </p:sp>
      <p:sp>
        <p:nvSpPr>
          <p:cNvPr id="6" name="Picture Placeholder 2"/>
          <p:cNvSpPr>
            <a:spLocks noGrp="1"/>
          </p:cNvSpPr>
          <p:nvPr>
            <p:ph type="pic" sz="quarter" idx="22" hasCustomPrompt="1"/>
          </p:nvPr>
        </p:nvSpPr>
        <p:spPr>
          <a:xfrm>
            <a:off x="6433744" y="243840"/>
            <a:ext cx="5162664" cy="2794016"/>
          </a:xfrm>
          <a:prstGeom prst="rect">
            <a:avLst/>
          </a:prstGeom>
          <a:solidFill>
            <a:schemeClr val="bg1">
              <a:lumMod val="85000"/>
            </a:schemeClr>
          </a:solidFill>
        </p:spPr>
        <p:txBody>
          <a:bodyPr vert="horz"/>
          <a:lstStyle>
            <a:lvl1pPr marL="0" marR="0" indent="0" algn="l" defTabSz="609585" rtl="0" eaLnBrk="1" fontAlgn="auto" latinLnBrk="0" hangingPunct="1">
              <a:lnSpc>
                <a:spcPct val="100000"/>
              </a:lnSpc>
              <a:spcBef>
                <a:spcPct val="20000"/>
              </a:spcBef>
              <a:spcAft>
                <a:spcPts val="0"/>
              </a:spcAft>
              <a:buClrTx/>
              <a:buSzTx/>
              <a:buFont typeface="Arial"/>
              <a:buNone/>
              <a:tabLst/>
              <a:defRPr sz="1600"/>
            </a:lvl1pPr>
          </a:lstStyle>
          <a:p>
            <a:r>
              <a:rPr lang="en-US"/>
              <a:t>Insert Photo</a:t>
            </a:r>
          </a:p>
        </p:txBody>
      </p:sp>
      <p:sp>
        <p:nvSpPr>
          <p:cNvPr id="7" name="Picture Placeholder 2"/>
          <p:cNvSpPr>
            <a:spLocks noGrp="1"/>
          </p:cNvSpPr>
          <p:nvPr>
            <p:ph type="pic" sz="quarter" idx="23" hasCustomPrompt="1"/>
          </p:nvPr>
        </p:nvSpPr>
        <p:spPr>
          <a:xfrm>
            <a:off x="6433744" y="3306596"/>
            <a:ext cx="5162664" cy="3117721"/>
          </a:xfrm>
          <a:prstGeom prst="rect">
            <a:avLst/>
          </a:prstGeom>
          <a:solidFill>
            <a:schemeClr val="bg1">
              <a:lumMod val="85000"/>
            </a:schemeClr>
          </a:solidFill>
        </p:spPr>
        <p:txBody>
          <a:bodyPr vert="horz"/>
          <a:lstStyle>
            <a:lvl1pPr marL="0" marR="0" indent="0" algn="l" defTabSz="609585" rtl="0" eaLnBrk="1" fontAlgn="auto" latinLnBrk="0" hangingPunct="1">
              <a:lnSpc>
                <a:spcPct val="100000"/>
              </a:lnSpc>
              <a:spcBef>
                <a:spcPct val="20000"/>
              </a:spcBef>
              <a:spcAft>
                <a:spcPts val="0"/>
              </a:spcAft>
              <a:buClrTx/>
              <a:buSzTx/>
              <a:buFont typeface="Arial"/>
              <a:buNone/>
              <a:tabLst/>
              <a:defRPr sz="1600"/>
            </a:lvl1pPr>
          </a:lstStyle>
          <a:p>
            <a:r>
              <a:rPr lang="en-US"/>
              <a:t>Insert Photo</a:t>
            </a:r>
          </a:p>
        </p:txBody>
      </p:sp>
      <p:sp>
        <p:nvSpPr>
          <p:cNvPr id="8" name="TextBox 7"/>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4671949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userDrawn="1"/>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userDrawn="1"/>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400"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02909052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userDrawn="1"/>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userDrawn="1"/>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400"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userDrawn="1"/>
        </p:nvSpPr>
        <p:spPr>
          <a:xfrm>
            <a:off x="143727" y="5113983"/>
            <a:ext cx="7440927" cy="1569660"/>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userDrawn="1"/>
        </p:nvGrpSpPr>
        <p:grpSpPr>
          <a:xfrm>
            <a:off x="1547053" y="3897782"/>
            <a:ext cx="1601320" cy="1188749"/>
            <a:chOff x="2576623" y="33912667"/>
            <a:chExt cx="2971800" cy="2206133"/>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1732001"/>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userDrawn="1"/>
        </p:nvGrpSpPr>
        <p:grpSpPr>
          <a:xfrm>
            <a:off x="4551699" y="3781039"/>
            <a:ext cx="3088339" cy="1621140"/>
            <a:chOff x="-183051" y="33227554"/>
            <a:chExt cx="5731474" cy="3039310"/>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596586"/>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26310000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8B3CE-7D05-BF03-41EF-121D4B6E87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8A50A0-625B-986B-461D-56EC57B573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316666-D4F8-BB76-56EB-FF8B5DD5706A}"/>
              </a:ext>
            </a:extLst>
          </p:cNvPr>
          <p:cNvSpPr>
            <a:spLocks noGrp="1"/>
          </p:cNvSpPr>
          <p:nvPr>
            <p:ph type="dt" sz="half" idx="10"/>
          </p:nvPr>
        </p:nvSpPr>
        <p:spPr/>
        <p:txBody>
          <a:bodyPr/>
          <a:lstStyle/>
          <a:p>
            <a:fld id="{D2A55204-52B8-418D-AE64-B45092147406}" type="datetimeFigureOut">
              <a:rPr lang="en-US" smtClean="0"/>
              <a:t>2025-10-09</a:t>
            </a:fld>
            <a:endParaRPr lang="en-US"/>
          </a:p>
        </p:txBody>
      </p:sp>
      <p:sp>
        <p:nvSpPr>
          <p:cNvPr id="5" name="Footer Placeholder 4">
            <a:extLst>
              <a:ext uri="{FF2B5EF4-FFF2-40B4-BE49-F238E27FC236}">
                <a16:creationId xmlns:a16="http://schemas.microsoft.com/office/drawing/2014/main" id="{8A6565CA-12B2-D0B9-1C6F-AB37009C1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FE6C34-A7BA-8B75-46CF-B4B6140989E6}"/>
              </a:ext>
            </a:extLst>
          </p:cNvPr>
          <p:cNvSpPr>
            <a:spLocks noGrp="1"/>
          </p:cNvSpPr>
          <p:nvPr>
            <p:ph type="sldNum" sz="quarter" idx="12"/>
          </p:nvPr>
        </p:nvSpPr>
        <p:spPr/>
        <p:txBody>
          <a:bodyPr/>
          <a:lstStyle/>
          <a:p>
            <a:fld id="{E1A4E52A-8701-4F4B-B775-FA6C4787349C}" type="slidenum">
              <a:rPr lang="en-US" smtClean="0"/>
              <a:t>‹#›</a:t>
            </a:fld>
            <a:endParaRPr lang="en-US"/>
          </a:p>
        </p:txBody>
      </p:sp>
    </p:spTree>
    <p:extLst>
      <p:ext uri="{BB962C8B-B14F-4D97-AF65-F5344CB8AC3E}">
        <p14:creationId xmlns:p14="http://schemas.microsoft.com/office/powerpoint/2010/main" val="4239106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9" Type="http://schemas.openxmlformats.org/officeDocument/2006/relationships/slideLayout" Target="../slideLayouts/slideLayout51.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50" Type="http://schemas.openxmlformats.org/officeDocument/2006/relationships/slideLayout" Target="../slideLayouts/slideLayout62.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41" Type="http://schemas.openxmlformats.org/officeDocument/2006/relationships/slideLayout" Target="../slideLayouts/slideLayout5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8" Type="http://schemas.openxmlformats.org/officeDocument/2006/relationships/slideLayout" Target="../slideLayouts/slideLayout20.xml"/><Relationship Id="rId5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21EDD3-4F13-D89E-B7EB-25F5F554FB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3F0D09-A1AB-E56E-0D27-67AFE115E0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33B10B-A481-2323-88B8-DA137882E7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D7B2CF35-B8B4-B9DC-D4F6-5D0E18A78A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C1DDD0A-8DAE-9502-C80D-12B1D1E2F4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F0DA70-C44F-4B47-A11F-B721337FD6D8}" type="slidenum">
              <a:rPr lang="en-US" smtClean="0"/>
              <a:t>‹#›</a:t>
            </a:fld>
            <a:endParaRPr lang="en-US"/>
          </a:p>
        </p:txBody>
      </p:sp>
    </p:spTree>
    <p:extLst>
      <p:ext uri="{BB962C8B-B14F-4D97-AF65-F5344CB8AC3E}">
        <p14:creationId xmlns:p14="http://schemas.microsoft.com/office/powerpoint/2010/main" val="3259392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076910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18" Type="http://schemas.openxmlformats.org/officeDocument/2006/relationships/image" Target="../media/image37.png"/><Relationship Id="rId3" Type="http://schemas.openxmlformats.org/officeDocument/2006/relationships/image" Target="../media/image22.png"/><Relationship Id="rId21" Type="http://schemas.openxmlformats.org/officeDocument/2006/relationships/image" Target="../media/image40.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 Type="http://schemas.openxmlformats.org/officeDocument/2006/relationships/image" Target="../media/image13.png"/><Relationship Id="rId16" Type="http://schemas.openxmlformats.org/officeDocument/2006/relationships/image" Target="../media/image35.png"/><Relationship Id="rId20" Type="http://schemas.openxmlformats.org/officeDocument/2006/relationships/image" Target="../media/image39.png"/><Relationship Id="rId1" Type="http://schemas.openxmlformats.org/officeDocument/2006/relationships/slideLayout" Target="../slideLayouts/slideLayout19.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5" Type="http://schemas.openxmlformats.org/officeDocument/2006/relationships/image" Target="../media/image34.png"/><Relationship Id="rId10" Type="http://schemas.openxmlformats.org/officeDocument/2006/relationships/image" Target="../media/image29.png"/><Relationship Id="rId19" Type="http://schemas.openxmlformats.org/officeDocument/2006/relationships/image" Target="../media/image38.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3.png"/><Relationship Id="rId1" Type="http://schemas.openxmlformats.org/officeDocument/2006/relationships/slideLayout" Target="../slideLayouts/slideLayout19.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1.png"/><Relationship Id="rId1" Type="http://schemas.openxmlformats.org/officeDocument/2006/relationships/slideLayout" Target="../slideLayouts/slideLayout19.xml"/><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02F92A-56E4-0C1C-6333-48237A5D662D}"/>
              </a:ext>
            </a:extLst>
          </p:cNvPr>
          <p:cNvSpPr>
            <a:spLocks noGrp="1"/>
          </p:cNvSpPr>
          <p:nvPr>
            <p:ph type="body" sz="quarter" idx="10"/>
          </p:nvPr>
        </p:nvSpPr>
        <p:spPr>
          <a:xfrm>
            <a:off x="4982633" y="2006435"/>
            <a:ext cx="7191331" cy="2405308"/>
          </a:xfrm>
        </p:spPr>
        <p:txBody>
          <a:bodyPr/>
          <a:lstStyle/>
          <a:p>
            <a:r>
              <a:rPr lang="en-US" dirty="0"/>
              <a:t>Application of regional survival curves to enhance modeling of used vehicle market and stock in TEMPO</a:t>
            </a:r>
          </a:p>
        </p:txBody>
      </p:sp>
      <p:sp>
        <p:nvSpPr>
          <p:cNvPr id="3" name="Text Placeholder 2">
            <a:extLst>
              <a:ext uri="{FF2B5EF4-FFF2-40B4-BE49-F238E27FC236}">
                <a16:creationId xmlns:a16="http://schemas.microsoft.com/office/drawing/2014/main" id="{32FC9BE6-D3E8-ADB1-CD1C-A2B222C3BFF2}"/>
              </a:ext>
            </a:extLst>
          </p:cNvPr>
          <p:cNvSpPr>
            <a:spLocks noGrp="1"/>
          </p:cNvSpPr>
          <p:nvPr>
            <p:ph type="body" sz="quarter" idx="11"/>
          </p:nvPr>
        </p:nvSpPr>
        <p:spPr>
          <a:xfrm>
            <a:off x="4982633" y="4562573"/>
            <a:ext cx="7209367" cy="1908567"/>
          </a:xfrm>
        </p:spPr>
        <p:txBody>
          <a:bodyPr/>
          <a:lstStyle/>
          <a:p>
            <a:r>
              <a:rPr lang="en-US" dirty="0"/>
              <a:t>Arthur Yip</a:t>
            </a:r>
          </a:p>
          <a:p>
            <a:endParaRPr lang="en-US" dirty="0"/>
          </a:p>
          <a:p>
            <a:r>
              <a:rPr lang="en-US" dirty="0"/>
              <a:t>Status update milestone for Q4 FY25</a:t>
            </a:r>
          </a:p>
        </p:txBody>
      </p:sp>
    </p:spTree>
    <p:extLst>
      <p:ext uri="{BB962C8B-B14F-4D97-AF65-F5344CB8AC3E}">
        <p14:creationId xmlns:p14="http://schemas.microsoft.com/office/powerpoint/2010/main" val="3104943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8FE4F-46DE-0896-73FA-87A706032A1A}"/>
              </a:ext>
            </a:extLst>
          </p:cNvPr>
          <p:cNvSpPr>
            <a:spLocks noGrp="1"/>
          </p:cNvSpPr>
          <p:nvPr>
            <p:ph type="title"/>
          </p:nvPr>
        </p:nvSpPr>
        <p:spPr>
          <a:xfrm>
            <a:off x="609600" y="1"/>
            <a:ext cx="10826751" cy="1600201"/>
          </a:xfrm>
        </p:spPr>
        <p:txBody>
          <a:bodyPr/>
          <a:lstStyle/>
          <a:p>
            <a:r>
              <a:rPr lang="en-US" dirty="0"/>
              <a:t>Regional differences in vehicle age, survival, and stock modeling have been </a:t>
            </a:r>
            <a:r>
              <a:rPr lang="en-US" dirty="0" err="1"/>
              <a:t>underlooked</a:t>
            </a:r>
            <a:endParaRPr lang="en-US" dirty="0"/>
          </a:p>
        </p:txBody>
      </p:sp>
      <p:sp>
        <p:nvSpPr>
          <p:cNvPr id="3" name="Text Placeholder 2">
            <a:extLst>
              <a:ext uri="{FF2B5EF4-FFF2-40B4-BE49-F238E27FC236}">
                <a16:creationId xmlns:a16="http://schemas.microsoft.com/office/drawing/2014/main" id="{621AC03B-1F9B-E4FA-A909-3161A235D667}"/>
              </a:ext>
            </a:extLst>
          </p:cNvPr>
          <p:cNvSpPr>
            <a:spLocks noGrp="1"/>
          </p:cNvSpPr>
          <p:nvPr>
            <p:ph type="body" sz="quarter" idx="10"/>
          </p:nvPr>
        </p:nvSpPr>
        <p:spPr/>
        <p:txBody>
          <a:bodyPr>
            <a:normAutofit fontScale="92500" lnSpcReduction="10000"/>
          </a:bodyPr>
          <a:lstStyle/>
          <a:p>
            <a:r>
              <a:rPr lang="en-US" dirty="0"/>
              <a:t>Sales generally assumed to translate into stock, according to standard survival theory and modeling</a:t>
            </a:r>
          </a:p>
          <a:p>
            <a:endParaRPr lang="en-US" dirty="0"/>
          </a:p>
          <a:p>
            <a:r>
              <a:rPr lang="en-US" dirty="0"/>
              <a:t>But this ignores distributional impacts and heterogeneity across consumers and regions</a:t>
            </a:r>
          </a:p>
          <a:p>
            <a:r>
              <a:rPr lang="en-US" dirty="0"/>
              <a:t>Furthermore, regional policies such as ZEV could amplify differences and impacts across regions</a:t>
            </a:r>
          </a:p>
          <a:p>
            <a:r>
              <a:rPr lang="en-US" dirty="0"/>
              <a:t>Many studies suggest accelerated retirement as a necessity in certain scenarios, without detail on how</a:t>
            </a:r>
          </a:p>
          <a:p>
            <a:endParaRPr lang="en-US" dirty="0"/>
          </a:p>
        </p:txBody>
      </p:sp>
    </p:spTree>
    <p:extLst>
      <p:ext uri="{BB962C8B-B14F-4D97-AF65-F5344CB8AC3E}">
        <p14:creationId xmlns:p14="http://schemas.microsoft.com/office/powerpoint/2010/main" val="3835235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3642-D8A3-FD64-7FF9-08A8DDE4B7F0}"/>
              </a:ext>
            </a:extLst>
          </p:cNvPr>
          <p:cNvSpPr>
            <a:spLocks noGrp="1"/>
          </p:cNvSpPr>
          <p:nvPr>
            <p:ph type="title"/>
          </p:nvPr>
        </p:nvSpPr>
        <p:spPr>
          <a:xfrm>
            <a:off x="609599" y="1"/>
            <a:ext cx="10913535" cy="1209524"/>
          </a:xfrm>
        </p:spPr>
        <p:txBody>
          <a:bodyPr/>
          <a:lstStyle/>
          <a:p>
            <a:r>
              <a:rPr lang="en-US" dirty="0"/>
              <a:t>Disproportionate ownership of new vehicles and EVs by high-income households</a:t>
            </a:r>
          </a:p>
        </p:txBody>
      </p:sp>
      <p:pic>
        <p:nvPicPr>
          <p:cNvPr id="1026" name="Picture 2" descr="image">
            <a:extLst>
              <a:ext uri="{FF2B5EF4-FFF2-40B4-BE49-F238E27FC236}">
                <a16:creationId xmlns:a16="http://schemas.microsoft.com/office/drawing/2014/main" id="{6753B3D9-602E-59D8-B440-F13EFB341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65943"/>
            <a:ext cx="5580921" cy="32161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a:extLst>
              <a:ext uri="{FF2B5EF4-FFF2-40B4-BE49-F238E27FC236}">
                <a16:creationId xmlns:a16="http://schemas.microsoft.com/office/drawing/2014/main" id="{01C7B9DC-E229-05D3-7185-1EB1D2781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9633" y="1209523"/>
            <a:ext cx="5781500" cy="4747100"/>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a:extLst>
              <a:ext uri="{FF2B5EF4-FFF2-40B4-BE49-F238E27FC236}">
                <a16:creationId xmlns:a16="http://schemas.microsoft.com/office/drawing/2014/main" id="{FEFC9830-3389-E33B-380E-71AC4E9BD946}"/>
              </a:ext>
            </a:extLst>
          </p:cNvPr>
          <p:cNvSpPr>
            <a:spLocks noGrp="1"/>
          </p:cNvSpPr>
          <p:nvPr>
            <p:ph type="body" sz="quarter" idx="10"/>
          </p:nvPr>
        </p:nvSpPr>
        <p:spPr>
          <a:xfrm>
            <a:off x="3880315" y="5947973"/>
            <a:ext cx="8520363" cy="1735667"/>
          </a:xfrm>
        </p:spPr>
        <p:txBody>
          <a:bodyPr>
            <a:normAutofit/>
          </a:bodyPr>
          <a:lstStyle/>
          <a:p>
            <a:pPr marL="0" indent="0">
              <a:buNone/>
            </a:pPr>
            <a:r>
              <a:rPr lang="en-US" dirty="0"/>
              <a:t>Skew is growing, and may change in the future</a:t>
            </a:r>
          </a:p>
        </p:txBody>
      </p:sp>
      <p:pic>
        <p:nvPicPr>
          <p:cNvPr id="5" name="Picture 4">
            <a:extLst>
              <a:ext uri="{FF2B5EF4-FFF2-40B4-BE49-F238E27FC236}">
                <a16:creationId xmlns:a16="http://schemas.microsoft.com/office/drawing/2014/main" id="{BF6938C4-0244-91F3-CDE3-57875CB2E99C}"/>
              </a:ext>
            </a:extLst>
          </p:cNvPr>
          <p:cNvPicPr>
            <a:picLocks noChangeAspect="1"/>
          </p:cNvPicPr>
          <p:nvPr/>
        </p:nvPicPr>
        <p:blipFill>
          <a:blip r:embed="rId4"/>
          <a:stretch>
            <a:fillRect/>
          </a:stretch>
        </p:blipFill>
        <p:spPr>
          <a:xfrm>
            <a:off x="609599" y="4682067"/>
            <a:ext cx="2621300" cy="2175933"/>
          </a:xfrm>
          <a:prstGeom prst="rect">
            <a:avLst/>
          </a:prstGeom>
        </p:spPr>
      </p:pic>
    </p:spTree>
    <p:extLst>
      <p:ext uri="{BB962C8B-B14F-4D97-AF65-F5344CB8AC3E}">
        <p14:creationId xmlns:p14="http://schemas.microsoft.com/office/powerpoint/2010/main" val="1731212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864A3-F743-4981-77E2-993E2E0BAF7F}"/>
              </a:ext>
            </a:extLst>
          </p:cNvPr>
          <p:cNvSpPr>
            <a:spLocks noGrp="1"/>
          </p:cNvSpPr>
          <p:nvPr>
            <p:ph type="title"/>
          </p:nvPr>
        </p:nvSpPr>
        <p:spPr>
          <a:xfrm>
            <a:off x="609599" y="1"/>
            <a:ext cx="10912511" cy="1209524"/>
          </a:xfrm>
        </p:spPr>
        <p:txBody>
          <a:bodyPr/>
          <a:lstStyle/>
          <a:p>
            <a:r>
              <a:rPr lang="en-US"/>
              <a:t>EV diffusion depends </a:t>
            </a:r>
            <a:r>
              <a:rPr lang="en-US" dirty="0"/>
              <a:t>on both </a:t>
            </a:r>
            <a:br>
              <a:rPr lang="en-US" dirty="0"/>
            </a:br>
            <a:r>
              <a:rPr lang="en-US" dirty="0"/>
              <a:t>sales share and new sales</a:t>
            </a:r>
          </a:p>
        </p:txBody>
      </p:sp>
      <p:sp>
        <p:nvSpPr>
          <p:cNvPr id="3" name="Text Placeholder 2">
            <a:extLst>
              <a:ext uri="{FF2B5EF4-FFF2-40B4-BE49-F238E27FC236}">
                <a16:creationId xmlns:a16="http://schemas.microsoft.com/office/drawing/2014/main" id="{52663CBC-992C-948C-7BF6-AA7AF1AC8D74}"/>
              </a:ext>
            </a:extLst>
          </p:cNvPr>
          <p:cNvSpPr>
            <a:spLocks noGrp="1"/>
          </p:cNvSpPr>
          <p:nvPr>
            <p:ph type="body" sz="quarter" idx="10"/>
          </p:nvPr>
        </p:nvSpPr>
        <p:spPr>
          <a:xfrm>
            <a:off x="491661" y="1499810"/>
            <a:ext cx="6068283" cy="5358191"/>
          </a:xfrm>
        </p:spPr>
        <p:txBody>
          <a:bodyPr>
            <a:normAutofit fontScale="92500" lnSpcReduction="20000"/>
          </a:bodyPr>
          <a:lstStyle/>
          <a:p>
            <a:pPr marL="0" indent="0">
              <a:buNone/>
            </a:pPr>
            <a:r>
              <a:rPr lang="en-US" b="0" i="0" dirty="0">
                <a:effectLst/>
                <a:latin typeface="-apple-system"/>
              </a:rPr>
              <a:t>Projected EVs in a county = a function of both:</a:t>
            </a:r>
          </a:p>
          <a:p>
            <a:pPr marL="0" indent="0">
              <a:buNone/>
            </a:pPr>
            <a:r>
              <a:rPr lang="en-US" b="0" i="0" dirty="0">
                <a:effectLst/>
                <a:latin typeface="-apple-system"/>
              </a:rPr>
              <a:t>1) Trajectory of EVs as share of new vehicle sales</a:t>
            </a:r>
          </a:p>
          <a:p>
            <a:pPr marL="0" indent="0">
              <a:buNone/>
            </a:pPr>
            <a:r>
              <a:rPr lang="en-US" dirty="0">
                <a:latin typeface="-apple-system"/>
              </a:rPr>
              <a:t>2) Projected vehicle sales, driven by </a:t>
            </a:r>
            <a:r>
              <a:rPr lang="en-US" b="0" i="0" dirty="0">
                <a:effectLst/>
                <a:latin typeface="-apple-system"/>
              </a:rPr>
              <a:t>vehicle survival/ scrappage/turnover</a:t>
            </a:r>
          </a:p>
          <a:p>
            <a:pPr algn="l"/>
            <a:r>
              <a:rPr lang="en-US" b="0" i="0" dirty="0">
                <a:effectLst/>
                <a:latin typeface="-apple-system"/>
              </a:rPr>
              <a:t>“Preference” for “age” (i.e. used vehicles) is an understudied factor affecting EV adoption</a:t>
            </a:r>
          </a:p>
          <a:p>
            <a:pPr algn="l"/>
            <a:r>
              <a:rPr lang="en-US" b="0" i="0" dirty="0">
                <a:effectLst/>
                <a:latin typeface="-apple-system"/>
              </a:rPr>
              <a:t>Higher median age in a county is indicative of slower vehicle stock turnover, fewer new sales, </a:t>
            </a:r>
            <a:r>
              <a:rPr lang="en-US" b="0" i="1" dirty="0">
                <a:effectLst/>
                <a:latin typeface="-apple-system"/>
              </a:rPr>
              <a:t>fewer EVs</a:t>
            </a:r>
          </a:p>
          <a:p>
            <a:pPr marL="0" indent="0">
              <a:buNone/>
            </a:pPr>
            <a:endParaRPr lang="en-US" dirty="0"/>
          </a:p>
        </p:txBody>
      </p:sp>
      <p:sp>
        <p:nvSpPr>
          <p:cNvPr id="10" name="TextBox 9">
            <a:extLst>
              <a:ext uri="{FF2B5EF4-FFF2-40B4-BE49-F238E27FC236}">
                <a16:creationId xmlns:a16="http://schemas.microsoft.com/office/drawing/2014/main" id="{B1C87E73-F7ED-B3BF-39DB-380668B7478D}"/>
              </a:ext>
            </a:extLst>
          </p:cNvPr>
          <p:cNvSpPr txBox="1"/>
          <p:nvPr/>
        </p:nvSpPr>
        <p:spPr>
          <a:xfrm>
            <a:off x="5429423" y="1313701"/>
            <a:ext cx="7525812" cy="297454"/>
          </a:xfrm>
          <a:prstGeom prst="rect">
            <a:avLst/>
          </a:prstGeom>
          <a:noFill/>
        </p:spPr>
        <p:txBody>
          <a:bodyPr wrap="square">
            <a:spAutoFit/>
          </a:bodyPr>
          <a:lstStyle/>
          <a:p>
            <a:pPr marL="731502" marR="731502" algn="ctr">
              <a:spcBef>
                <a:spcPts val="1333"/>
              </a:spcBef>
              <a:spcAft>
                <a:spcPts val="1067"/>
              </a:spcAft>
            </a:pPr>
            <a:r>
              <a:rPr lang="en-US" sz="1333" i="1" dirty="0">
                <a:solidFill>
                  <a:srgbClr val="404040"/>
                </a:solidFill>
                <a:latin typeface="Times New Roman" panose="02020603050405020304" pitchFamily="18" charset="0"/>
                <a:ea typeface="Times New Roman" panose="02020603050405020304" pitchFamily="18" charset="0"/>
              </a:rPr>
              <a:t>“The future is already here; it’s just not very evenly distributed.” – William Gibson</a:t>
            </a:r>
          </a:p>
        </p:txBody>
      </p:sp>
      <p:pic>
        <p:nvPicPr>
          <p:cNvPr id="5" name="Picture 4" descr="Map&#10;&#10;Description automatically generated">
            <a:extLst>
              <a:ext uri="{FF2B5EF4-FFF2-40B4-BE49-F238E27FC236}">
                <a16:creationId xmlns:a16="http://schemas.microsoft.com/office/drawing/2014/main" id="{F3DADE64-A476-99E7-216B-FCF50F910C5F}"/>
              </a:ext>
            </a:extLst>
          </p:cNvPr>
          <p:cNvPicPr>
            <a:picLocks noChangeAspect="1"/>
          </p:cNvPicPr>
          <p:nvPr/>
        </p:nvPicPr>
        <p:blipFill>
          <a:blip r:embed="rId3"/>
          <a:stretch>
            <a:fillRect/>
          </a:stretch>
        </p:blipFill>
        <p:spPr>
          <a:xfrm>
            <a:off x="6753928" y="1499809"/>
            <a:ext cx="4876800" cy="3010371"/>
          </a:xfrm>
          <a:prstGeom prst="rect">
            <a:avLst/>
          </a:prstGeom>
        </p:spPr>
      </p:pic>
      <p:pic>
        <p:nvPicPr>
          <p:cNvPr id="9" name="Picture 8" descr="Map&#10;&#10;Description automatically generated">
            <a:extLst>
              <a:ext uri="{FF2B5EF4-FFF2-40B4-BE49-F238E27FC236}">
                <a16:creationId xmlns:a16="http://schemas.microsoft.com/office/drawing/2014/main" id="{8D5FB8D1-2AB4-485D-5334-1A2509DD39F4}"/>
              </a:ext>
            </a:extLst>
          </p:cNvPr>
          <p:cNvPicPr>
            <a:picLocks noChangeAspect="1"/>
          </p:cNvPicPr>
          <p:nvPr/>
        </p:nvPicPr>
        <p:blipFill>
          <a:blip r:embed="rId4"/>
          <a:stretch>
            <a:fillRect/>
          </a:stretch>
        </p:blipFill>
        <p:spPr>
          <a:xfrm>
            <a:off x="6823539" y="4039115"/>
            <a:ext cx="4876800" cy="3010371"/>
          </a:xfrm>
          <a:prstGeom prst="rect">
            <a:avLst/>
          </a:prstGeom>
        </p:spPr>
      </p:pic>
    </p:spTree>
    <p:extLst>
      <p:ext uri="{BB962C8B-B14F-4D97-AF65-F5344CB8AC3E}">
        <p14:creationId xmlns:p14="http://schemas.microsoft.com/office/powerpoint/2010/main" val="5114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01E2-9A88-CD5E-D0A0-58BD86872CB2}"/>
              </a:ext>
            </a:extLst>
          </p:cNvPr>
          <p:cNvSpPr>
            <a:spLocks noGrp="1"/>
          </p:cNvSpPr>
          <p:nvPr>
            <p:ph type="title"/>
          </p:nvPr>
        </p:nvSpPr>
        <p:spPr>
          <a:xfrm>
            <a:off x="609600" y="1"/>
            <a:ext cx="10924249" cy="1209524"/>
          </a:xfrm>
        </p:spPr>
        <p:txBody>
          <a:bodyPr/>
          <a:lstStyle/>
          <a:p>
            <a:r>
              <a:rPr lang="en-US" b="0" i="0" dirty="0">
                <a:effectLst/>
                <a:latin typeface="-apple-system"/>
              </a:rPr>
              <a:t>EV sales share and age have been somewhat </a:t>
            </a:r>
            <a:br>
              <a:rPr lang="en-US" b="0" i="0" dirty="0">
                <a:effectLst/>
                <a:latin typeface="-apple-system"/>
              </a:rPr>
            </a:br>
            <a:r>
              <a:rPr lang="en-US" b="0" i="0" dirty="0">
                <a:effectLst/>
                <a:latin typeface="-apple-system"/>
              </a:rPr>
              <a:t>anti-correlated so far</a:t>
            </a:r>
            <a:endParaRPr lang="en-US" dirty="0"/>
          </a:p>
        </p:txBody>
      </p:sp>
      <p:sp>
        <p:nvSpPr>
          <p:cNvPr id="3" name="Text Placeholder 2">
            <a:extLst>
              <a:ext uri="{FF2B5EF4-FFF2-40B4-BE49-F238E27FC236}">
                <a16:creationId xmlns:a16="http://schemas.microsoft.com/office/drawing/2014/main" id="{4B2AC811-91F7-040D-0131-DE6AFD81162C}"/>
              </a:ext>
            </a:extLst>
          </p:cNvPr>
          <p:cNvSpPr>
            <a:spLocks noGrp="1"/>
          </p:cNvSpPr>
          <p:nvPr>
            <p:ph type="body" sz="quarter" idx="10"/>
          </p:nvPr>
        </p:nvSpPr>
        <p:spPr>
          <a:xfrm>
            <a:off x="520491" y="1447127"/>
            <a:ext cx="3797861" cy="5329955"/>
          </a:xfrm>
        </p:spPr>
        <p:txBody>
          <a:bodyPr>
            <a:normAutofit fontScale="85000" lnSpcReduction="20000"/>
          </a:bodyPr>
          <a:lstStyle/>
          <a:p>
            <a:r>
              <a:rPr lang="en-US" b="0" i="0" dirty="0">
                <a:effectLst/>
                <a:latin typeface="-apple-system"/>
              </a:rPr>
              <a:t>Counties typically have had higher EV sales share AND newer vehicles / faster turnover so far, mostly in CA</a:t>
            </a:r>
          </a:p>
          <a:p>
            <a:r>
              <a:rPr lang="en-US" dirty="0">
                <a:latin typeface="-apple-system"/>
              </a:rPr>
              <a:t>However, </a:t>
            </a:r>
            <a:r>
              <a:rPr lang="en-US" b="0" i="0" dirty="0">
                <a:effectLst/>
                <a:latin typeface="-apple-system"/>
              </a:rPr>
              <a:t>this may not be the case in the </a:t>
            </a:r>
            <a:r>
              <a:rPr lang="en-US" dirty="0">
                <a:latin typeface="-apple-system"/>
              </a:rPr>
              <a:t>future</a:t>
            </a:r>
          </a:p>
          <a:p>
            <a:r>
              <a:rPr lang="en-US" b="0" i="0" dirty="0">
                <a:effectLst/>
                <a:latin typeface="-apple-system"/>
              </a:rPr>
              <a:t>To make better EV adoption projections, both ZEV sales share and age need to be considered in modeling</a:t>
            </a:r>
          </a:p>
          <a:p>
            <a:endParaRPr lang="en-US" dirty="0"/>
          </a:p>
        </p:txBody>
      </p:sp>
      <p:pic>
        <p:nvPicPr>
          <p:cNvPr id="5" name="Picture 4" descr="Chart&#10;&#10;Description automatically generated">
            <a:extLst>
              <a:ext uri="{FF2B5EF4-FFF2-40B4-BE49-F238E27FC236}">
                <a16:creationId xmlns:a16="http://schemas.microsoft.com/office/drawing/2014/main" id="{AE4E7644-3F97-4143-FE0C-F9E0DFA1F34E}"/>
              </a:ext>
            </a:extLst>
          </p:cNvPr>
          <p:cNvPicPr>
            <a:picLocks noChangeAspect="1"/>
          </p:cNvPicPr>
          <p:nvPr/>
        </p:nvPicPr>
        <p:blipFill>
          <a:blip r:embed="rId3"/>
          <a:stretch>
            <a:fillRect/>
          </a:stretch>
        </p:blipFill>
        <p:spPr>
          <a:xfrm>
            <a:off x="4229245" y="1209525"/>
            <a:ext cx="7962756" cy="5573929"/>
          </a:xfrm>
          <a:prstGeom prst="rect">
            <a:avLst/>
          </a:prstGeom>
        </p:spPr>
      </p:pic>
    </p:spTree>
    <p:extLst>
      <p:ext uri="{BB962C8B-B14F-4D97-AF65-F5344CB8AC3E}">
        <p14:creationId xmlns:p14="http://schemas.microsoft.com/office/powerpoint/2010/main" val="1538577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1D170-196A-8E59-CA93-56FCBB4258C8}"/>
              </a:ext>
            </a:extLst>
          </p:cNvPr>
          <p:cNvSpPr>
            <a:spLocks noGrp="1"/>
          </p:cNvSpPr>
          <p:nvPr>
            <p:ph type="title"/>
          </p:nvPr>
        </p:nvSpPr>
        <p:spPr>
          <a:xfrm>
            <a:off x="609600" y="1"/>
            <a:ext cx="10826751" cy="1600201"/>
          </a:xfrm>
        </p:spPr>
        <p:txBody>
          <a:bodyPr/>
          <a:lstStyle/>
          <a:p>
            <a:r>
              <a:rPr lang="en-US" dirty="0"/>
              <a:t>Not just important for EVs/environment</a:t>
            </a:r>
          </a:p>
        </p:txBody>
      </p:sp>
      <p:sp>
        <p:nvSpPr>
          <p:cNvPr id="3" name="Text Placeholder 2">
            <a:extLst>
              <a:ext uri="{FF2B5EF4-FFF2-40B4-BE49-F238E27FC236}">
                <a16:creationId xmlns:a16="http://schemas.microsoft.com/office/drawing/2014/main" id="{8CBC7576-E23E-AFAE-D78B-ED897031DD7A}"/>
              </a:ext>
            </a:extLst>
          </p:cNvPr>
          <p:cNvSpPr>
            <a:spLocks noGrp="1"/>
          </p:cNvSpPr>
          <p:nvPr>
            <p:ph type="body" sz="quarter" idx="10"/>
          </p:nvPr>
        </p:nvSpPr>
        <p:spPr/>
        <p:txBody>
          <a:bodyPr>
            <a:normAutofit/>
          </a:bodyPr>
          <a:lstStyle/>
          <a:p>
            <a:r>
              <a:rPr lang="en-US" dirty="0"/>
              <a:t>Because vehicle regulations are typically imposed on new Model Years, any new technologies and their benefits must flow through sales to stock</a:t>
            </a:r>
          </a:p>
          <a:p>
            <a:r>
              <a:rPr lang="en-US" dirty="0"/>
              <a:t>Changes in new vehicle market technologies or prices affect used vehicle ownership/market responses, with feedback to the new vehicle market and stock turnover</a:t>
            </a:r>
          </a:p>
          <a:p>
            <a:r>
              <a:rPr lang="en-US" dirty="0"/>
              <a:t>The sales volume of the new car market has implications on automotive industry profitability/health/competitiveness</a:t>
            </a:r>
          </a:p>
          <a:p>
            <a:endParaRPr lang="en-US" dirty="0"/>
          </a:p>
          <a:p>
            <a:endParaRPr lang="en-US" dirty="0"/>
          </a:p>
        </p:txBody>
      </p:sp>
    </p:spTree>
    <p:extLst>
      <p:ext uri="{BB962C8B-B14F-4D97-AF65-F5344CB8AC3E}">
        <p14:creationId xmlns:p14="http://schemas.microsoft.com/office/powerpoint/2010/main" val="2060954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82CB8-BAF9-C0DF-608B-940C0BB78CE1}"/>
              </a:ext>
            </a:extLst>
          </p:cNvPr>
          <p:cNvSpPr>
            <a:spLocks noGrp="1"/>
          </p:cNvSpPr>
          <p:nvPr>
            <p:ph type="title"/>
          </p:nvPr>
        </p:nvSpPr>
        <p:spPr/>
        <p:txBody>
          <a:bodyPr/>
          <a:lstStyle/>
          <a:p>
            <a:r>
              <a:rPr lang="en-US" dirty="0"/>
              <a:t>This work seeks to enhance modeling of </a:t>
            </a:r>
            <a:br>
              <a:rPr lang="en-US" dirty="0"/>
            </a:br>
            <a:r>
              <a:rPr lang="en-US" dirty="0"/>
              <a:t>regional vehicle stocks, sales, and turnover</a:t>
            </a:r>
          </a:p>
        </p:txBody>
      </p:sp>
      <p:sp>
        <p:nvSpPr>
          <p:cNvPr id="3" name="Text Placeholder 2">
            <a:extLst>
              <a:ext uri="{FF2B5EF4-FFF2-40B4-BE49-F238E27FC236}">
                <a16:creationId xmlns:a16="http://schemas.microsoft.com/office/drawing/2014/main" id="{F0D9FDE2-0858-8CD0-D177-91352781ABA4}"/>
              </a:ext>
            </a:extLst>
          </p:cNvPr>
          <p:cNvSpPr txBox="1">
            <a:spLocks/>
          </p:cNvSpPr>
          <p:nvPr/>
        </p:nvSpPr>
        <p:spPr>
          <a:xfrm>
            <a:off x="609601" y="1295400"/>
            <a:ext cx="10826751" cy="5466643"/>
          </a:xfrm>
          <a:prstGeom prst="rect">
            <a:avLst/>
          </a:prstGeom>
        </p:spPr>
        <p:txBody>
          <a:bodyPr>
            <a:normAutofit fontScale="70000" lnSpcReduction="20000"/>
          </a:bodyPr>
          <a:lst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dirty="0"/>
              <a:t>Goal: Produce theory, methodology, and data to support long-term forecasting of regionally specific vehicle stock, sales, and turnover, without modeling underlying movements/transfers</a:t>
            </a:r>
          </a:p>
          <a:p>
            <a:r>
              <a:rPr lang="en-US" dirty="0"/>
              <a:t>Goal: Verify soundness of EIA’s approach of using regional survival in NEMS</a:t>
            </a:r>
          </a:p>
          <a:p>
            <a:endParaRPr lang="en-US" dirty="0"/>
          </a:p>
          <a:p>
            <a:endParaRPr lang="en-US" dirty="0"/>
          </a:p>
          <a:p>
            <a:r>
              <a:rPr lang="en-US" dirty="0"/>
              <a:t>Premise: Data on sales at a detailed regional resolution are typically unavailable</a:t>
            </a:r>
          </a:p>
          <a:p>
            <a:r>
              <a:rPr lang="en-US" dirty="0"/>
              <a:t>Premise: Data of used vehicle market movements are not available and modeling them would be too complex</a:t>
            </a:r>
          </a:p>
          <a:p>
            <a:r>
              <a:rPr lang="en-US" dirty="0"/>
              <a:t>Premise: Retiring vehicles requiring replacement drives most of the quantity of new vehicle sales and turnover</a:t>
            </a:r>
          </a:p>
          <a:p>
            <a:r>
              <a:rPr lang="en-US" dirty="0"/>
              <a:t>Premise: True differences in regional survival vs. vehicle transfers and movements would be too difficult to disentangle </a:t>
            </a:r>
          </a:p>
          <a:p>
            <a:r>
              <a:rPr lang="en-US" dirty="0"/>
              <a:t>Premise: National survival is well studied and utilized in models such as TEMPO, VISION, NEMS, MOVES, and can be assumed to approximate scrappage</a:t>
            </a:r>
          </a:p>
        </p:txBody>
      </p:sp>
    </p:spTree>
    <p:extLst>
      <p:ext uri="{BB962C8B-B14F-4D97-AF65-F5344CB8AC3E}">
        <p14:creationId xmlns:p14="http://schemas.microsoft.com/office/powerpoint/2010/main" val="3949233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1D1BE-0BAD-706D-F60B-ED2DD265A293}"/>
              </a:ext>
            </a:extLst>
          </p:cNvPr>
          <p:cNvSpPr>
            <a:spLocks noGrp="1"/>
          </p:cNvSpPr>
          <p:nvPr>
            <p:ph type="title"/>
          </p:nvPr>
        </p:nvSpPr>
        <p:spPr/>
        <p:txBody>
          <a:bodyPr/>
          <a:lstStyle/>
          <a:p>
            <a:r>
              <a:rPr lang="en-US" dirty="0"/>
              <a:t>National-level vehicle fleet </a:t>
            </a:r>
            <a:br>
              <a:rPr lang="en-US" dirty="0"/>
            </a:br>
            <a:r>
              <a:rPr lang="en-US" dirty="0"/>
              <a:t>survival curve</a:t>
            </a:r>
          </a:p>
        </p:txBody>
      </p:sp>
      <p:pic>
        <p:nvPicPr>
          <p:cNvPr id="4" name="Picture 3" descr="A screenshot of a graph&#10;&#10;Description automatically generated">
            <a:extLst>
              <a:ext uri="{FF2B5EF4-FFF2-40B4-BE49-F238E27FC236}">
                <a16:creationId xmlns:a16="http://schemas.microsoft.com/office/drawing/2014/main" id="{54CD579E-B3FB-D9E9-5E28-56BACFFA2B68}"/>
              </a:ext>
            </a:extLst>
          </p:cNvPr>
          <p:cNvPicPr>
            <a:picLocks noChangeAspect="1"/>
          </p:cNvPicPr>
          <p:nvPr/>
        </p:nvPicPr>
        <p:blipFill rotWithShape="1">
          <a:blip r:embed="rId3"/>
          <a:srcRect l="32377" t="62718" r="39666" b="3138"/>
          <a:stretch/>
        </p:blipFill>
        <p:spPr>
          <a:xfrm>
            <a:off x="2206426" y="1532431"/>
            <a:ext cx="4310359" cy="4211271"/>
          </a:xfrm>
          <a:prstGeom prst="rect">
            <a:avLst/>
          </a:prstGeom>
        </p:spPr>
      </p:pic>
      <p:pic>
        <p:nvPicPr>
          <p:cNvPr id="5" name="Picture 4" descr="A screenshot of a graph&#10;&#10;Description automatically generated">
            <a:extLst>
              <a:ext uri="{FF2B5EF4-FFF2-40B4-BE49-F238E27FC236}">
                <a16:creationId xmlns:a16="http://schemas.microsoft.com/office/drawing/2014/main" id="{7506B353-0DD8-C541-39F1-61F84BDE0891}"/>
              </a:ext>
            </a:extLst>
          </p:cNvPr>
          <p:cNvPicPr>
            <a:picLocks noChangeAspect="1"/>
          </p:cNvPicPr>
          <p:nvPr/>
        </p:nvPicPr>
        <p:blipFill rotWithShape="1">
          <a:blip r:embed="rId3"/>
          <a:srcRect l="88753" t="43150" r="1156" b="44011"/>
          <a:stretch/>
        </p:blipFill>
        <p:spPr>
          <a:xfrm>
            <a:off x="4871803" y="2208928"/>
            <a:ext cx="1384373" cy="1408960"/>
          </a:xfrm>
          <a:prstGeom prst="rect">
            <a:avLst/>
          </a:prstGeom>
        </p:spPr>
      </p:pic>
      <p:sp>
        <p:nvSpPr>
          <p:cNvPr id="6" name="Rectangle 5">
            <a:extLst>
              <a:ext uri="{FF2B5EF4-FFF2-40B4-BE49-F238E27FC236}">
                <a16:creationId xmlns:a16="http://schemas.microsoft.com/office/drawing/2014/main" id="{5EA83731-EFEB-DC3C-FC24-5921C03BDE49}"/>
              </a:ext>
            </a:extLst>
          </p:cNvPr>
          <p:cNvSpPr/>
          <p:nvPr/>
        </p:nvSpPr>
        <p:spPr>
          <a:xfrm>
            <a:off x="1596828" y="2402681"/>
            <a:ext cx="668936" cy="4568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33" b="1" dirty="0">
                <a:solidFill>
                  <a:sysClr val="windowText" lastClr="000000"/>
                </a:solidFill>
              </a:rPr>
              <a:t>100%</a:t>
            </a:r>
          </a:p>
        </p:txBody>
      </p:sp>
      <p:sp>
        <p:nvSpPr>
          <p:cNvPr id="7" name="Rectangle 6">
            <a:extLst>
              <a:ext uri="{FF2B5EF4-FFF2-40B4-BE49-F238E27FC236}">
                <a16:creationId xmlns:a16="http://schemas.microsoft.com/office/drawing/2014/main" id="{84814BCC-6771-951E-E86A-C10777DE8DA1}"/>
              </a:ext>
            </a:extLst>
          </p:cNvPr>
          <p:cNvSpPr/>
          <p:nvPr/>
        </p:nvSpPr>
        <p:spPr>
          <a:xfrm>
            <a:off x="1596828" y="4763757"/>
            <a:ext cx="668936" cy="4568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33" b="1" dirty="0">
                <a:solidFill>
                  <a:sysClr val="windowText" lastClr="000000"/>
                </a:solidFill>
              </a:rPr>
              <a:t>0%</a:t>
            </a:r>
          </a:p>
        </p:txBody>
      </p:sp>
      <p:sp>
        <p:nvSpPr>
          <p:cNvPr id="8" name="Rectangle 7">
            <a:extLst>
              <a:ext uri="{FF2B5EF4-FFF2-40B4-BE49-F238E27FC236}">
                <a16:creationId xmlns:a16="http://schemas.microsoft.com/office/drawing/2014/main" id="{A95AC2C0-FE84-2540-0720-8EADFB4621D8}"/>
              </a:ext>
            </a:extLst>
          </p:cNvPr>
          <p:cNvSpPr/>
          <p:nvPr/>
        </p:nvSpPr>
        <p:spPr>
          <a:xfrm>
            <a:off x="1596828" y="3585469"/>
            <a:ext cx="668936" cy="4568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33" b="1" dirty="0">
                <a:solidFill>
                  <a:sysClr val="windowText" lastClr="000000"/>
                </a:solidFill>
              </a:rPr>
              <a:t>50%</a:t>
            </a:r>
          </a:p>
        </p:txBody>
      </p:sp>
      <p:sp>
        <p:nvSpPr>
          <p:cNvPr id="9" name="Rectangle 8">
            <a:extLst>
              <a:ext uri="{FF2B5EF4-FFF2-40B4-BE49-F238E27FC236}">
                <a16:creationId xmlns:a16="http://schemas.microsoft.com/office/drawing/2014/main" id="{997AF675-C781-01EB-47F4-FAADF68CAB01}"/>
              </a:ext>
            </a:extLst>
          </p:cNvPr>
          <p:cNvSpPr/>
          <p:nvPr/>
        </p:nvSpPr>
        <p:spPr>
          <a:xfrm>
            <a:off x="3591065" y="5482911"/>
            <a:ext cx="1598627" cy="45684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333" b="1" dirty="0">
                <a:solidFill>
                  <a:sysClr val="windowText" lastClr="000000"/>
                </a:solidFill>
              </a:rPr>
              <a:t>Vehicle Age</a:t>
            </a:r>
          </a:p>
        </p:txBody>
      </p:sp>
      <p:sp>
        <p:nvSpPr>
          <p:cNvPr id="10" name="Rectangle 9">
            <a:extLst>
              <a:ext uri="{FF2B5EF4-FFF2-40B4-BE49-F238E27FC236}">
                <a16:creationId xmlns:a16="http://schemas.microsoft.com/office/drawing/2014/main" id="{4255F97E-F2C2-D858-0133-C47CB4EDC442}"/>
              </a:ext>
            </a:extLst>
          </p:cNvPr>
          <p:cNvSpPr/>
          <p:nvPr/>
        </p:nvSpPr>
        <p:spPr>
          <a:xfrm>
            <a:off x="2206425" y="1478991"/>
            <a:ext cx="4833643" cy="56071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12" name="Straight Arrow Connector 11">
            <a:extLst>
              <a:ext uri="{FF2B5EF4-FFF2-40B4-BE49-F238E27FC236}">
                <a16:creationId xmlns:a16="http://schemas.microsoft.com/office/drawing/2014/main" id="{5D5F748F-345E-23B0-A4D6-029C6132A443}"/>
              </a:ext>
            </a:extLst>
          </p:cNvPr>
          <p:cNvCxnSpPr>
            <a:cxnSpLocks/>
          </p:cNvCxnSpPr>
          <p:nvPr/>
        </p:nvCxnSpPr>
        <p:spPr>
          <a:xfrm flipV="1">
            <a:off x="3128920" y="3311573"/>
            <a:ext cx="0" cy="28491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03F9C457-48F6-37EE-56BF-3DF412B81EFE}"/>
              </a:ext>
            </a:extLst>
          </p:cNvPr>
          <p:cNvSpPr/>
          <p:nvPr/>
        </p:nvSpPr>
        <p:spPr>
          <a:xfrm>
            <a:off x="101066" y="2208928"/>
            <a:ext cx="1495761" cy="301167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ysClr val="windowText" lastClr="000000"/>
                </a:solidFill>
              </a:rPr>
              <a:t>Proportion of new vehicles in the U.S. surviving to </a:t>
            </a:r>
          </a:p>
          <a:p>
            <a:pPr algn="ctr"/>
            <a:r>
              <a:rPr lang="en-US" sz="1600" b="1" dirty="0">
                <a:solidFill>
                  <a:sysClr val="windowText" lastClr="000000"/>
                </a:solidFill>
              </a:rPr>
              <a:t>age x</a:t>
            </a:r>
          </a:p>
        </p:txBody>
      </p:sp>
      <p:sp>
        <p:nvSpPr>
          <p:cNvPr id="16" name="Rectangle 15">
            <a:extLst>
              <a:ext uri="{FF2B5EF4-FFF2-40B4-BE49-F238E27FC236}">
                <a16:creationId xmlns:a16="http://schemas.microsoft.com/office/drawing/2014/main" id="{1CC1AAA4-B958-3063-7799-8ED1EB1EE63D}"/>
              </a:ext>
            </a:extLst>
          </p:cNvPr>
          <p:cNvSpPr/>
          <p:nvPr/>
        </p:nvSpPr>
        <p:spPr>
          <a:xfrm>
            <a:off x="2837608" y="5912922"/>
            <a:ext cx="3258393" cy="85824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~70% of new cars survive to age 10</a:t>
            </a:r>
          </a:p>
        </p:txBody>
      </p:sp>
      <p:sp>
        <p:nvSpPr>
          <p:cNvPr id="17" name="Rectangle 16">
            <a:extLst>
              <a:ext uri="{FF2B5EF4-FFF2-40B4-BE49-F238E27FC236}">
                <a16:creationId xmlns:a16="http://schemas.microsoft.com/office/drawing/2014/main" id="{6963CF3C-E230-C24B-4AF8-6B0F49301760}"/>
              </a:ext>
            </a:extLst>
          </p:cNvPr>
          <p:cNvSpPr/>
          <p:nvPr/>
        </p:nvSpPr>
        <p:spPr>
          <a:xfrm>
            <a:off x="6096001" y="5912922"/>
            <a:ext cx="3614443" cy="85824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30% have retired/scrapped by this age </a:t>
            </a:r>
          </a:p>
          <a:p>
            <a:pPr algn="ctr"/>
            <a:r>
              <a:rPr lang="en-US" sz="1333" dirty="0"/>
              <a:t>(or been exported out of the U.S.)</a:t>
            </a:r>
          </a:p>
        </p:txBody>
      </p:sp>
      <p:cxnSp>
        <p:nvCxnSpPr>
          <p:cNvPr id="18" name="Straight Arrow Connector 17">
            <a:extLst>
              <a:ext uri="{FF2B5EF4-FFF2-40B4-BE49-F238E27FC236}">
                <a16:creationId xmlns:a16="http://schemas.microsoft.com/office/drawing/2014/main" id="{26504C66-9C86-1C4C-6290-541EE2A75F67}"/>
              </a:ext>
            </a:extLst>
          </p:cNvPr>
          <p:cNvCxnSpPr>
            <a:cxnSpLocks/>
          </p:cNvCxnSpPr>
          <p:nvPr/>
        </p:nvCxnSpPr>
        <p:spPr>
          <a:xfrm flipH="1">
            <a:off x="3992077" y="3811640"/>
            <a:ext cx="313430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4AB2D5A4-F9D3-D08B-874A-1B4AAFF284AA}"/>
              </a:ext>
            </a:extLst>
          </p:cNvPr>
          <p:cNvSpPr/>
          <p:nvPr/>
        </p:nvSpPr>
        <p:spPr>
          <a:xfrm>
            <a:off x="6967643" y="3391091"/>
            <a:ext cx="4310359" cy="84109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~50% of new pickup trucks are still on the road at age 21</a:t>
            </a:r>
          </a:p>
        </p:txBody>
      </p:sp>
      <p:sp>
        <p:nvSpPr>
          <p:cNvPr id="38" name="Rectangle 37">
            <a:extLst>
              <a:ext uri="{FF2B5EF4-FFF2-40B4-BE49-F238E27FC236}">
                <a16:creationId xmlns:a16="http://schemas.microsoft.com/office/drawing/2014/main" id="{8E7F752A-8588-B5BC-D076-214975540091}"/>
              </a:ext>
            </a:extLst>
          </p:cNvPr>
          <p:cNvSpPr/>
          <p:nvPr/>
        </p:nvSpPr>
        <p:spPr>
          <a:xfrm>
            <a:off x="609600" y="1307098"/>
            <a:ext cx="10924249" cy="5283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ysClr val="windowText" lastClr="000000"/>
                </a:solidFill>
              </a:rPr>
              <a:t>Describes how the vehicle fleet “turns over” over time (i.e. as vehicles age)</a:t>
            </a:r>
          </a:p>
        </p:txBody>
      </p:sp>
    </p:spTree>
    <p:extLst>
      <p:ext uri="{BB962C8B-B14F-4D97-AF65-F5344CB8AC3E}">
        <p14:creationId xmlns:p14="http://schemas.microsoft.com/office/powerpoint/2010/main" val="3090955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8F8CF-4904-FE24-FD73-03986B1C5391}"/>
              </a:ext>
            </a:extLst>
          </p:cNvPr>
          <p:cNvSpPr>
            <a:spLocks noGrp="1"/>
          </p:cNvSpPr>
          <p:nvPr>
            <p:ph type="title"/>
          </p:nvPr>
        </p:nvSpPr>
        <p:spPr>
          <a:xfrm>
            <a:off x="609599" y="1"/>
            <a:ext cx="4555068" cy="1209524"/>
          </a:xfrm>
        </p:spPr>
        <p:txBody>
          <a:bodyPr/>
          <a:lstStyle/>
          <a:p>
            <a:r>
              <a:rPr lang="en-US" sz="3200" dirty="0"/>
              <a:t>National </a:t>
            </a:r>
            <a:br>
              <a:rPr lang="en-US" sz="3200" dirty="0"/>
            </a:br>
            <a:r>
              <a:rPr lang="en-US" sz="3200" dirty="0"/>
              <a:t>survival curves 2014-2022</a:t>
            </a:r>
          </a:p>
        </p:txBody>
      </p:sp>
      <p:sp>
        <p:nvSpPr>
          <p:cNvPr id="3" name="Text Placeholder 2">
            <a:extLst>
              <a:ext uri="{FF2B5EF4-FFF2-40B4-BE49-F238E27FC236}">
                <a16:creationId xmlns:a16="http://schemas.microsoft.com/office/drawing/2014/main" id="{45370165-0FB1-5172-6FA3-361C321E83CA}"/>
              </a:ext>
            </a:extLst>
          </p:cNvPr>
          <p:cNvSpPr>
            <a:spLocks noGrp="1"/>
          </p:cNvSpPr>
          <p:nvPr>
            <p:ph type="body" sz="quarter" idx="10"/>
          </p:nvPr>
        </p:nvSpPr>
        <p:spPr/>
        <p:txBody>
          <a:bodyPr/>
          <a:lstStyle/>
          <a:p>
            <a:endParaRPr lang="en-US"/>
          </a:p>
        </p:txBody>
      </p:sp>
      <p:pic>
        <p:nvPicPr>
          <p:cNvPr id="5" name="Picture 4" descr="A graph of different colored lines&#10;&#10;Description automatically generated">
            <a:extLst>
              <a:ext uri="{FF2B5EF4-FFF2-40B4-BE49-F238E27FC236}">
                <a16:creationId xmlns:a16="http://schemas.microsoft.com/office/drawing/2014/main" id="{2C6CCBA2-4585-6A4F-676C-6668B2289B5B}"/>
              </a:ext>
            </a:extLst>
          </p:cNvPr>
          <p:cNvPicPr>
            <a:picLocks noChangeAspect="1"/>
          </p:cNvPicPr>
          <p:nvPr/>
        </p:nvPicPr>
        <p:blipFill>
          <a:blip r:embed="rId3"/>
          <a:stretch>
            <a:fillRect/>
          </a:stretch>
        </p:blipFill>
        <p:spPr>
          <a:xfrm>
            <a:off x="1" y="1499809"/>
            <a:ext cx="6159500" cy="4927600"/>
          </a:xfrm>
          <a:prstGeom prst="rect">
            <a:avLst/>
          </a:prstGeom>
        </p:spPr>
      </p:pic>
      <p:pic>
        <p:nvPicPr>
          <p:cNvPr id="7" name="Picture 6" descr="A screenshot of a graph&#10;&#10;Description automatically generated">
            <a:extLst>
              <a:ext uri="{FF2B5EF4-FFF2-40B4-BE49-F238E27FC236}">
                <a16:creationId xmlns:a16="http://schemas.microsoft.com/office/drawing/2014/main" id="{B16000D1-012C-8D6E-4686-E268CE54E905}"/>
              </a:ext>
            </a:extLst>
          </p:cNvPr>
          <p:cNvPicPr>
            <a:picLocks noChangeAspect="1"/>
          </p:cNvPicPr>
          <p:nvPr/>
        </p:nvPicPr>
        <p:blipFill>
          <a:blip r:embed="rId4"/>
          <a:stretch>
            <a:fillRect/>
          </a:stretch>
        </p:blipFill>
        <p:spPr>
          <a:xfrm>
            <a:off x="5477027" y="1486021"/>
            <a:ext cx="6714973" cy="5371979"/>
          </a:xfrm>
          <a:prstGeom prst="rect">
            <a:avLst/>
          </a:prstGeom>
        </p:spPr>
      </p:pic>
      <p:sp>
        <p:nvSpPr>
          <p:cNvPr id="8" name="Text Placeholder 2">
            <a:extLst>
              <a:ext uri="{FF2B5EF4-FFF2-40B4-BE49-F238E27FC236}">
                <a16:creationId xmlns:a16="http://schemas.microsoft.com/office/drawing/2014/main" id="{3BABA0AD-ABE9-1F2F-D708-6D16F4FF07C5}"/>
              </a:ext>
            </a:extLst>
          </p:cNvPr>
          <p:cNvSpPr txBox="1">
            <a:spLocks/>
          </p:cNvSpPr>
          <p:nvPr/>
        </p:nvSpPr>
        <p:spPr>
          <a:xfrm>
            <a:off x="5477027" y="1210"/>
            <a:ext cx="6452507" cy="1222103"/>
          </a:xfrm>
          <a:prstGeom prst="rect">
            <a:avLst/>
          </a:prstGeom>
        </p:spPr>
        <p:txBody>
          <a:bodyPr vert="horz" lIns="121920" tIns="60960" rIns="121920" bIns="60960" rtlCol="0">
            <a:normAutofit fontScale="40000" lnSpcReduction="20000"/>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3200" dirty="0"/>
              <a:t>Noteworthy differences between states</a:t>
            </a:r>
          </a:p>
          <a:p>
            <a:r>
              <a:rPr lang="en-US" sz="3200" dirty="0"/>
              <a:t>Various patterns observed:</a:t>
            </a:r>
          </a:p>
          <a:p>
            <a:pPr lvl="1"/>
            <a:r>
              <a:rPr lang="en-US" sz="3200" dirty="0"/>
              <a:t>&gt;1 and above avg survival in early ages</a:t>
            </a:r>
          </a:p>
          <a:p>
            <a:pPr lvl="1"/>
            <a:r>
              <a:rPr lang="en-US" sz="3200" dirty="0"/>
              <a:t>Below </a:t>
            </a:r>
            <a:r>
              <a:rPr lang="en-US" sz="3200" dirty="0" err="1"/>
              <a:t>natl</a:t>
            </a:r>
            <a:r>
              <a:rPr lang="en-US" sz="3200" dirty="0"/>
              <a:t> avg in early ages</a:t>
            </a:r>
          </a:p>
          <a:p>
            <a:pPr lvl="1"/>
            <a:r>
              <a:rPr lang="en-US" sz="3200" dirty="0"/>
              <a:t>Above </a:t>
            </a:r>
            <a:r>
              <a:rPr lang="en-US" sz="3200" dirty="0" err="1"/>
              <a:t>natl</a:t>
            </a:r>
            <a:r>
              <a:rPr lang="en-US" sz="3200" dirty="0"/>
              <a:t> avg in late ages</a:t>
            </a:r>
          </a:p>
        </p:txBody>
      </p:sp>
    </p:spTree>
    <p:extLst>
      <p:ext uri="{BB962C8B-B14F-4D97-AF65-F5344CB8AC3E}">
        <p14:creationId xmlns:p14="http://schemas.microsoft.com/office/powerpoint/2010/main" val="316569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B8847-6513-9DF4-B36A-3C3F32BBA3CE}"/>
              </a:ext>
            </a:extLst>
          </p:cNvPr>
          <p:cNvSpPr>
            <a:spLocks noGrp="1"/>
          </p:cNvSpPr>
          <p:nvPr>
            <p:ph type="title"/>
          </p:nvPr>
        </p:nvSpPr>
        <p:spPr/>
        <p:txBody>
          <a:bodyPr/>
          <a:lstStyle/>
          <a:p>
            <a:r>
              <a:rPr lang="en-US" dirty="0"/>
              <a:t>State-level survival curves, 2019</a:t>
            </a:r>
          </a:p>
        </p:txBody>
      </p:sp>
      <p:sp>
        <p:nvSpPr>
          <p:cNvPr id="3" name="Text Placeholder 2">
            <a:extLst>
              <a:ext uri="{FF2B5EF4-FFF2-40B4-BE49-F238E27FC236}">
                <a16:creationId xmlns:a16="http://schemas.microsoft.com/office/drawing/2014/main" id="{8BD3612B-D56F-E0D9-CB70-6EDC3BDBDC57}"/>
              </a:ext>
            </a:extLst>
          </p:cNvPr>
          <p:cNvSpPr>
            <a:spLocks noGrp="1"/>
          </p:cNvSpPr>
          <p:nvPr>
            <p:ph type="body" sz="quarter" idx="10"/>
          </p:nvPr>
        </p:nvSpPr>
        <p:spPr>
          <a:xfrm>
            <a:off x="7484918" y="1499810"/>
            <a:ext cx="4639349" cy="4829025"/>
          </a:xfrm>
        </p:spPr>
        <p:txBody>
          <a:bodyPr>
            <a:normAutofit fontScale="85000" lnSpcReduction="10000"/>
          </a:bodyPr>
          <a:lstStyle/>
          <a:p>
            <a:r>
              <a:rPr lang="en-US" dirty="0"/>
              <a:t>Noteworthy differences between states</a:t>
            </a:r>
          </a:p>
          <a:p>
            <a:r>
              <a:rPr lang="en-US" dirty="0"/>
              <a:t>Various patterns observed:</a:t>
            </a:r>
          </a:p>
          <a:p>
            <a:pPr lvl="1"/>
            <a:r>
              <a:rPr lang="en-US" dirty="0"/>
              <a:t>&gt;1 and above avg survival in early ages e.g. Idaho</a:t>
            </a:r>
          </a:p>
          <a:p>
            <a:pPr lvl="1"/>
            <a:r>
              <a:rPr lang="en-US" dirty="0"/>
              <a:t>Below </a:t>
            </a:r>
            <a:r>
              <a:rPr lang="en-US" dirty="0" err="1"/>
              <a:t>natl</a:t>
            </a:r>
            <a:r>
              <a:rPr lang="en-US" dirty="0"/>
              <a:t> avg in early ages e.g. New York</a:t>
            </a:r>
          </a:p>
          <a:p>
            <a:pPr lvl="1"/>
            <a:r>
              <a:rPr lang="en-US" dirty="0"/>
              <a:t>Above </a:t>
            </a:r>
            <a:r>
              <a:rPr lang="en-US" dirty="0" err="1"/>
              <a:t>natl</a:t>
            </a:r>
            <a:r>
              <a:rPr lang="en-US" dirty="0"/>
              <a:t> avg in late ages e.g. California</a:t>
            </a:r>
          </a:p>
        </p:txBody>
      </p:sp>
      <p:pic>
        <p:nvPicPr>
          <p:cNvPr id="7" name="Picture 6" descr="A screenshot of a graph&#10;&#10;Description automatically generated">
            <a:extLst>
              <a:ext uri="{FF2B5EF4-FFF2-40B4-BE49-F238E27FC236}">
                <a16:creationId xmlns:a16="http://schemas.microsoft.com/office/drawing/2014/main" id="{5502AED4-9D2D-C841-CAA5-C56F81E2AE88}"/>
              </a:ext>
            </a:extLst>
          </p:cNvPr>
          <p:cNvPicPr>
            <a:picLocks noChangeAspect="1"/>
          </p:cNvPicPr>
          <p:nvPr/>
        </p:nvPicPr>
        <p:blipFill>
          <a:blip r:embed="rId2"/>
          <a:stretch>
            <a:fillRect/>
          </a:stretch>
        </p:blipFill>
        <p:spPr>
          <a:xfrm>
            <a:off x="609599" y="1209525"/>
            <a:ext cx="6875319" cy="5500255"/>
          </a:xfrm>
          <a:prstGeom prst="rect">
            <a:avLst/>
          </a:prstGeom>
        </p:spPr>
      </p:pic>
    </p:spTree>
    <p:extLst>
      <p:ext uri="{BB962C8B-B14F-4D97-AF65-F5344CB8AC3E}">
        <p14:creationId xmlns:p14="http://schemas.microsoft.com/office/powerpoint/2010/main" val="3341536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344AE-5705-2C8E-2948-469E03073D56}"/>
              </a:ext>
            </a:extLst>
          </p:cNvPr>
          <p:cNvSpPr>
            <a:spLocks noGrp="1"/>
          </p:cNvSpPr>
          <p:nvPr>
            <p:ph type="title"/>
          </p:nvPr>
        </p:nvSpPr>
        <p:spPr/>
        <p:txBody>
          <a:bodyPr/>
          <a:lstStyle/>
          <a:p>
            <a:r>
              <a:rPr lang="en-US" dirty="0"/>
              <a:t>Variables explaining </a:t>
            </a:r>
            <a:br>
              <a:rPr lang="en-US" dirty="0"/>
            </a:br>
            <a:r>
              <a:rPr lang="en-US" dirty="0"/>
              <a:t>state-level differences in survival</a:t>
            </a:r>
          </a:p>
        </p:txBody>
      </p:sp>
      <p:sp>
        <p:nvSpPr>
          <p:cNvPr id="3" name="Text Placeholder 2">
            <a:extLst>
              <a:ext uri="{FF2B5EF4-FFF2-40B4-BE49-F238E27FC236}">
                <a16:creationId xmlns:a16="http://schemas.microsoft.com/office/drawing/2014/main" id="{69D87F21-E8DA-0CAC-371D-034347B9E464}"/>
              </a:ext>
            </a:extLst>
          </p:cNvPr>
          <p:cNvSpPr>
            <a:spLocks noGrp="1"/>
          </p:cNvSpPr>
          <p:nvPr>
            <p:ph type="body" sz="quarter" idx="10"/>
          </p:nvPr>
        </p:nvSpPr>
        <p:spPr>
          <a:xfrm>
            <a:off x="609599" y="5795852"/>
            <a:ext cx="10826751" cy="807099"/>
          </a:xfrm>
        </p:spPr>
        <p:txBody>
          <a:bodyPr>
            <a:normAutofit fontScale="77500" lnSpcReduction="20000"/>
          </a:bodyPr>
          <a:lstStyle/>
          <a:p>
            <a:r>
              <a:rPr lang="en-US" dirty="0"/>
              <a:t>Blue = higher than national = more vehicles surviving or net imported</a:t>
            </a:r>
          </a:p>
          <a:p>
            <a:r>
              <a:rPr lang="en-US" dirty="0"/>
              <a:t>Red = lower than national = more vehicles scrapped or net exported</a:t>
            </a:r>
          </a:p>
        </p:txBody>
      </p:sp>
      <p:sp>
        <p:nvSpPr>
          <p:cNvPr id="6" name="Rectangle 5">
            <a:extLst>
              <a:ext uri="{FF2B5EF4-FFF2-40B4-BE49-F238E27FC236}">
                <a16:creationId xmlns:a16="http://schemas.microsoft.com/office/drawing/2014/main" id="{1942B3B3-2F76-466C-9CF0-93319A872864}"/>
              </a:ext>
            </a:extLst>
          </p:cNvPr>
          <p:cNvSpPr/>
          <p:nvPr/>
        </p:nvSpPr>
        <p:spPr>
          <a:xfrm>
            <a:off x="10942573" y="6347901"/>
            <a:ext cx="1249428" cy="510099"/>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a:p>
        </p:txBody>
      </p:sp>
      <p:sp>
        <p:nvSpPr>
          <p:cNvPr id="8" name="Rectangle 7">
            <a:extLst>
              <a:ext uri="{FF2B5EF4-FFF2-40B4-BE49-F238E27FC236}">
                <a16:creationId xmlns:a16="http://schemas.microsoft.com/office/drawing/2014/main" id="{9B15C440-6822-1F07-820E-51737EDEDF00}"/>
              </a:ext>
            </a:extLst>
          </p:cNvPr>
          <p:cNvSpPr/>
          <p:nvPr/>
        </p:nvSpPr>
        <p:spPr>
          <a:xfrm>
            <a:off x="609598" y="1563426"/>
            <a:ext cx="9758724" cy="629508"/>
          </a:xfrm>
          <a:prstGeom prst="rect">
            <a:avLst/>
          </a:prstGeom>
        </p:spPr>
        <p:txBody>
          <a:bodyPr vert="horz" lIns="121920" tIns="60960" rIns="121920" bIns="60960" rtlCol="0">
            <a:normAutofit fontScale="70000" lnSpcReduction="20000"/>
          </a:bodyPr>
          <a:lstStyle/>
          <a:p>
            <a:pPr>
              <a:spcBef>
                <a:spcPct val="20000"/>
              </a:spcBef>
            </a:pPr>
            <a:r>
              <a:rPr lang="en-US" sz="3200" dirty="0"/>
              <a:t>Regression analysis to uncover what drives regionally-specific survival rates </a:t>
            </a:r>
          </a:p>
        </p:txBody>
      </p:sp>
      <p:pic>
        <p:nvPicPr>
          <p:cNvPr id="4" name="Picture 3">
            <a:extLst>
              <a:ext uri="{FF2B5EF4-FFF2-40B4-BE49-F238E27FC236}">
                <a16:creationId xmlns:a16="http://schemas.microsoft.com/office/drawing/2014/main" id="{69DDC4A5-6517-0545-42EC-66D1415ABAF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599" y="2503154"/>
            <a:ext cx="10934700" cy="3016673"/>
          </a:xfrm>
          <a:prstGeom prst="rect">
            <a:avLst/>
          </a:prstGeom>
          <a:noFill/>
          <a:ln>
            <a:noFill/>
          </a:ln>
        </p:spPr>
      </p:pic>
      <p:sp>
        <p:nvSpPr>
          <p:cNvPr id="7" name="Rectangle 6">
            <a:extLst>
              <a:ext uri="{FF2B5EF4-FFF2-40B4-BE49-F238E27FC236}">
                <a16:creationId xmlns:a16="http://schemas.microsoft.com/office/drawing/2014/main" id="{79F4716E-AC92-2BCE-A7E3-324ECAEEB359}"/>
              </a:ext>
            </a:extLst>
          </p:cNvPr>
          <p:cNvSpPr/>
          <p:nvPr/>
        </p:nvSpPr>
        <p:spPr>
          <a:xfrm>
            <a:off x="9367048" y="99939"/>
            <a:ext cx="2707188" cy="130837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i="1" dirty="0"/>
              <a:t>Paper in progress: Greene et al. (2025) submitted</a:t>
            </a:r>
          </a:p>
        </p:txBody>
      </p:sp>
    </p:spTree>
    <p:extLst>
      <p:ext uri="{BB962C8B-B14F-4D97-AF65-F5344CB8AC3E}">
        <p14:creationId xmlns:p14="http://schemas.microsoft.com/office/powerpoint/2010/main" val="3689276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EB34-6402-29BA-FF90-5113A9453D14}"/>
              </a:ext>
            </a:extLst>
          </p:cNvPr>
          <p:cNvSpPr>
            <a:spLocks noGrp="1"/>
          </p:cNvSpPr>
          <p:nvPr>
            <p:ph type="title"/>
          </p:nvPr>
        </p:nvSpPr>
        <p:spPr>
          <a:xfrm>
            <a:off x="609599" y="1"/>
            <a:ext cx="10826752" cy="1209524"/>
          </a:xfrm>
        </p:spPr>
        <p:txBody>
          <a:bodyPr/>
          <a:lstStyle/>
          <a:p>
            <a:r>
              <a:rPr lang="en-US" dirty="0"/>
              <a:t>Generalized state-level survival curves, predicted for 2022, based on 2014-2022 data</a:t>
            </a:r>
          </a:p>
        </p:txBody>
      </p:sp>
      <p:sp>
        <p:nvSpPr>
          <p:cNvPr id="3" name="Text Placeholder 2">
            <a:extLst>
              <a:ext uri="{FF2B5EF4-FFF2-40B4-BE49-F238E27FC236}">
                <a16:creationId xmlns:a16="http://schemas.microsoft.com/office/drawing/2014/main" id="{67B8506E-D957-0BAD-BE42-6C16323EAD4C}"/>
              </a:ext>
            </a:extLst>
          </p:cNvPr>
          <p:cNvSpPr>
            <a:spLocks noGrp="1"/>
          </p:cNvSpPr>
          <p:nvPr>
            <p:ph type="body" sz="quarter" idx="10"/>
          </p:nvPr>
        </p:nvSpPr>
        <p:spPr/>
        <p:txBody>
          <a:bodyPr/>
          <a:lstStyle/>
          <a:p>
            <a:endParaRPr lang="en-US"/>
          </a:p>
        </p:txBody>
      </p:sp>
      <p:pic>
        <p:nvPicPr>
          <p:cNvPr id="4" name="Picture 3">
            <a:extLst>
              <a:ext uri="{FF2B5EF4-FFF2-40B4-BE49-F238E27FC236}">
                <a16:creationId xmlns:a16="http://schemas.microsoft.com/office/drawing/2014/main" id="{F76BDC81-8D3A-AB12-84A6-B9CF7070380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25504" y="1499810"/>
            <a:ext cx="5966497" cy="4470500"/>
          </a:xfrm>
          <a:prstGeom prst="rect">
            <a:avLst/>
          </a:prstGeom>
          <a:noFill/>
        </p:spPr>
      </p:pic>
      <p:pic>
        <p:nvPicPr>
          <p:cNvPr id="5" name="Picture 4">
            <a:extLst>
              <a:ext uri="{FF2B5EF4-FFF2-40B4-BE49-F238E27FC236}">
                <a16:creationId xmlns:a16="http://schemas.microsoft.com/office/drawing/2014/main" id="{865949C2-6AC9-B6A6-72B1-37AC5E656B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 y="1499810"/>
            <a:ext cx="5966849" cy="4470500"/>
          </a:xfrm>
          <a:prstGeom prst="rect">
            <a:avLst/>
          </a:prstGeom>
          <a:noFill/>
        </p:spPr>
      </p:pic>
      <p:sp>
        <p:nvSpPr>
          <p:cNvPr id="6" name="Rectangle 5">
            <a:extLst>
              <a:ext uri="{FF2B5EF4-FFF2-40B4-BE49-F238E27FC236}">
                <a16:creationId xmlns:a16="http://schemas.microsoft.com/office/drawing/2014/main" id="{8BC43982-59C7-F12C-567B-0F39E9E8BE18}"/>
              </a:ext>
            </a:extLst>
          </p:cNvPr>
          <p:cNvSpPr/>
          <p:nvPr/>
        </p:nvSpPr>
        <p:spPr>
          <a:xfrm>
            <a:off x="9788237" y="678730"/>
            <a:ext cx="2190090" cy="66616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i="1" dirty="0"/>
              <a:t>Greene et al. 2025 (submitted)</a:t>
            </a:r>
          </a:p>
        </p:txBody>
      </p:sp>
    </p:spTree>
    <p:extLst>
      <p:ext uri="{BB962C8B-B14F-4D97-AF65-F5344CB8AC3E}">
        <p14:creationId xmlns:p14="http://schemas.microsoft.com/office/powerpoint/2010/main" val="1431316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5FD32-976A-26F4-62EB-CCC356C07E8F}"/>
              </a:ext>
            </a:extLst>
          </p:cNvPr>
          <p:cNvSpPr>
            <a:spLocks noGrp="1"/>
          </p:cNvSpPr>
          <p:nvPr>
            <p:ph type="title"/>
          </p:nvPr>
        </p:nvSpPr>
        <p:spPr/>
        <p:txBody>
          <a:bodyPr/>
          <a:lstStyle/>
          <a:p>
            <a:r>
              <a:rPr lang="en-US" dirty="0"/>
              <a:t>Journal peer review - reject</a:t>
            </a:r>
          </a:p>
        </p:txBody>
      </p:sp>
      <p:sp>
        <p:nvSpPr>
          <p:cNvPr id="3" name="Text Placeholder 2">
            <a:extLst>
              <a:ext uri="{FF2B5EF4-FFF2-40B4-BE49-F238E27FC236}">
                <a16:creationId xmlns:a16="http://schemas.microsoft.com/office/drawing/2014/main" id="{6540F7E4-F2E0-04FA-D07C-010784BA95C5}"/>
              </a:ext>
            </a:extLst>
          </p:cNvPr>
          <p:cNvSpPr>
            <a:spLocks noGrp="1"/>
          </p:cNvSpPr>
          <p:nvPr>
            <p:ph type="body" sz="quarter" idx="10"/>
          </p:nvPr>
        </p:nvSpPr>
        <p:spPr/>
        <p:txBody>
          <a:bodyPr>
            <a:normAutofit fontScale="70000" lnSpcReduction="20000"/>
          </a:bodyPr>
          <a:lstStyle/>
          <a:p>
            <a:r>
              <a:rPr lang="en-US" dirty="0"/>
              <a:t>Paper released as UTK Research Report and on SSRN</a:t>
            </a:r>
          </a:p>
          <a:p>
            <a:r>
              <a:rPr lang="en-US" dirty="0"/>
              <a:t>Submitted to and returned from Transportation Research Part A: Policy and Practice with reviewer comments</a:t>
            </a:r>
          </a:p>
          <a:p>
            <a:pPr lvl="1"/>
            <a:r>
              <a:rPr lang="en-US" dirty="0"/>
              <a:t>Reviewers noted a disconnect between stated motivation and goals (informing EV transition) vs. actual results </a:t>
            </a:r>
          </a:p>
          <a:p>
            <a:pPr lvl="1"/>
            <a:r>
              <a:rPr lang="en-US" dirty="0"/>
              <a:t>Reviewers were confused about “net survival”, which combines scrappage and migration, and disputed its usefulness</a:t>
            </a:r>
          </a:p>
          <a:p>
            <a:pPr lvl="1"/>
            <a:r>
              <a:rPr lang="en-US" dirty="0"/>
              <a:t>Reviewers requested more rigorous theory and further attempts to distinguish scrappage and migration</a:t>
            </a:r>
          </a:p>
          <a:p>
            <a:pPr lvl="1"/>
            <a:r>
              <a:rPr lang="en-US" dirty="0"/>
              <a:t>Reviewers requested validation of model forecasts e.g. via out-of-sample prediction or </a:t>
            </a:r>
            <a:r>
              <a:rPr lang="en-US" dirty="0" err="1"/>
              <a:t>backcasting</a:t>
            </a:r>
            <a:r>
              <a:rPr lang="en-US" dirty="0"/>
              <a:t>/</a:t>
            </a:r>
            <a:r>
              <a:rPr lang="en-US" dirty="0" err="1"/>
              <a:t>backtesting</a:t>
            </a:r>
            <a:endParaRPr lang="en-US" dirty="0"/>
          </a:p>
          <a:p>
            <a:r>
              <a:rPr lang="en-US" dirty="0"/>
              <a:t>Responses and resubmission to another journal in progress</a:t>
            </a:r>
          </a:p>
          <a:p>
            <a:pPr lvl="1"/>
            <a:r>
              <a:rPr lang="en-US" dirty="0"/>
              <a:t>In particular, validation via out-of-sample prediction/</a:t>
            </a:r>
            <a:r>
              <a:rPr lang="en-US" dirty="0" err="1"/>
              <a:t>backcasting</a:t>
            </a:r>
            <a:r>
              <a:rPr lang="en-US" dirty="0"/>
              <a:t> via this subtask</a:t>
            </a:r>
          </a:p>
          <a:p>
            <a:pPr lvl="1"/>
            <a:endParaRPr lang="en-US" dirty="0"/>
          </a:p>
          <a:p>
            <a:endParaRPr lang="en-US" dirty="0"/>
          </a:p>
        </p:txBody>
      </p:sp>
    </p:spTree>
    <p:extLst>
      <p:ext uri="{BB962C8B-B14F-4D97-AF65-F5344CB8AC3E}">
        <p14:creationId xmlns:p14="http://schemas.microsoft.com/office/powerpoint/2010/main" val="3559710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24778-8D5F-FB92-E158-695D9220ECFC}"/>
              </a:ext>
            </a:extLst>
          </p:cNvPr>
          <p:cNvSpPr>
            <a:spLocks noGrp="1"/>
          </p:cNvSpPr>
          <p:nvPr>
            <p:ph type="title"/>
          </p:nvPr>
        </p:nvSpPr>
        <p:spPr>
          <a:xfrm>
            <a:off x="609598" y="1"/>
            <a:ext cx="10982631" cy="1209524"/>
          </a:xfrm>
        </p:spPr>
        <p:txBody>
          <a:bodyPr/>
          <a:lstStyle/>
          <a:p>
            <a:r>
              <a:rPr lang="en-US" dirty="0"/>
              <a:t>How can accurate regional vehicle turnover/sales be estimated?</a:t>
            </a:r>
          </a:p>
        </p:txBody>
      </p:sp>
      <p:graphicFrame>
        <p:nvGraphicFramePr>
          <p:cNvPr id="4" name="Table 3">
            <a:extLst>
              <a:ext uri="{FF2B5EF4-FFF2-40B4-BE49-F238E27FC236}">
                <a16:creationId xmlns:a16="http://schemas.microsoft.com/office/drawing/2014/main" id="{DF49BADA-5359-95DE-5EC0-38548221034A}"/>
              </a:ext>
            </a:extLst>
          </p:cNvPr>
          <p:cNvGraphicFramePr>
            <a:graphicFrameLocks noGrp="1"/>
          </p:cNvGraphicFramePr>
          <p:nvPr>
            <p:extLst>
              <p:ext uri="{D42A27DB-BD31-4B8C-83A1-F6EECF244321}">
                <p14:modId xmlns:p14="http://schemas.microsoft.com/office/powerpoint/2010/main" val="2798553690"/>
              </p:ext>
            </p:extLst>
          </p:nvPr>
        </p:nvGraphicFramePr>
        <p:xfrm>
          <a:off x="609597" y="1376315"/>
          <a:ext cx="10982631" cy="5285136"/>
        </p:xfrm>
        <a:graphic>
          <a:graphicData uri="http://schemas.openxmlformats.org/drawingml/2006/table">
            <a:tbl>
              <a:tblPr firstRow="1" bandRow="1">
                <a:tableStyleId>{5C22544A-7EE6-4342-B048-85BDC9FD1C3A}</a:tableStyleId>
              </a:tblPr>
              <a:tblGrid>
                <a:gridCol w="3156860">
                  <a:extLst>
                    <a:ext uri="{9D8B030D-6E8A-4147-A177-3AD203B41FA5}">
                      <a16:colId xmlns:a16="http://schemas.microsoft.com/office/drawing/2014/main" val="212268018"/>
                    </a:ext>
                  </a:extLst>
                </a:gridCol>
                <a:gridCol w="2884714">
                  <a:extLst>
                    <a:ext uri="{9D8B030D-6E8A-4147-A177-3AD203B41FA5}">
                      <a16:colId xmlns:a16="http://schemas.microsoft.com/office/drawing/2014/main" val="1026909484"/>
                    </a:ext>
                  </a:extLst>
                </a:gridCol>
                <a:gridCol w="4941057">
                  <a:extLst>
                    <a:ext uri="{9D8B030D-6E8A-4147-A177-3AD203B41FA5}">
                      <a16:colId xmlns:a16="http://schemas.microsoft.com/office/drawing/2014/main" val="455734204"/>
                    </a:ext>
                  </a:extLst>
                </a:gridCol>
              </a:tblGrid>
              <a:tr h="996648">
                <a:tc>
                  <a:txBody>
                    <a:bodyPr/>
                    <a:lstStyle/>
                    <a:p>
                      <a:r>
                        <a:rPr lang="en-US" dirty="0"/>
                        <a:t>Regional stocks paired with…</a:t>
                      </a:r>
                    </a:p>
                  </a:txBody>
                  <a:tcPr/>
                </a:tc>
                <a:tc>
                  <a:txBody>
                    <a:bodyPr/>
                    <a:lstStyle/>
                    <a:p>
                      <a:r>
                        <a:rPr lang="en-US" dirty="0"/>
                        <a:t>Pros</a:t>
                      </a:r>
                    </a:p>
                  </a:txBody>
                  <a:tcPr/>
                </a:tc>
                <a:tc>
                  <a:txBody>
                    <a:bodyPr/>
                    <a:lstStyle/>
                    <a:p>
                      <a:r>
                        <a:rPr lang="en-US" dirty="0"/>
                        <a:t>Cons</a:t>
                      </a:r>
                    </a:p>
                  </a:txBody>
                  <a:tcPr/>
                </a:tc>
                <a:extLst>
                  <a:ext uri="{0D108BD9-81ED-4DB2-BD59-A6C34878D82A}">
                    <a16:rowId xmlns:a16="http://schemas.microsoft.com/office/drawing/2014/main" val="1232509410"/>
                  </a:ext>
                </a:extLst>
              </a:tr>
              <a:tr h="691365">
                <a:tc>
                  <a:txBody>
                    <a:bodyPr/>
                    <a:lstStyle/>
                    <a:p>
                      <a:r>
                        <a:rPr lang="en-US" sz="1800" dirty="0"/>
                        <a:t>National survival</a:t>
                      </a:r>
                    </a:p>
                  </a:txBody>
                  <a:tcPr/>
                </a:tc>
                <a:tc>
                  <a:txBody>
                    <a:bodyPr/>
                    <a:lstStyle/>
                    <a:p>
                      <a:r>
                        <a:rPr lang="en-US" sz="1800" dirty="0"/>
                        <a:t>Simple, well-studied, validated</a:t>
                      </a:r>
                    </a:p>
                  </a:txBody>
                  <a:tcPr/>
                </a:tc>
                <a:tc>
                  <a:txBody>
                    <a:bodyPr/>
                    <a:lstStyle/>
                    <a:p>
                      <a:r>
                        <a:rPr lang="en-US" sz="1800" dirty="0"/>
                        <a:t>Regional stock age converge to national stock age.</a:t>
                      </a:r>
                    </a:p>
                    <a:p>
                      <a:r>
                        <a:rPr lang="en-US" sz="1800" dirty="0"/>
                        <a:t>Only approximate scrappage is captured; no representation of used market/internal transfers.</a:t>
                      </a:r>
                    </a:p>
                  </a:txBody>
                  <a:tcPr/>
                </a:tc>
                <a:extLst>
                  <a:ext uri="{0D108BD9-81ED-4DB2-BD59-A6C34878D82A}">
                    <a16:rowId xmlns:a16="http://schemas.microsoft.com/office/drawing/2014/main" val="3449179957"/>
                  </a:ext>
                </a:extLst>
              </a:tr>
              <a:tr h="751114">
                <a:tc>
                  <a:txBody>
                    <a:bodyPr/>
                    <a:lstStyle/>
                    <a:p>
                      <a:r>
                        <a:rPr lang="en-US" sz="1800" dirty="0"/>
                        <a:t>Regional sales fixed at historical turnover, assuming FIFO</a:t>
                      </a:r>
                    </a:p>
                  </a:txBody>
                  <a:tcPr/>
                </a:tc>
                <a:tc>
                  <a:txBody>
                    <a:bodyPr/>
                    <a:lstStyle/>
                    <a:p>
                      <a:r>
                        <a:rPr lang="en-US" sz="1800" dirty="0"/>
                        <a:t>Simple, preserves regional average ages</a:t>
                      </a:r>
                    </a:p>
                  </a:txBody>
                  <a:tcPr/>
                </a:tc>
                <a:tc>
                  <a:txBody>
                    <a:bodyPr/>
                    <a:lstStyle/>
                    <a:p>
                      <a:r>
                        <a:rPr lang="en-US" sz="1800" dirty="0"/>
                        <a:t>Regional average ages are only approximated; regional age distributions are lost. </a:t>
                      </a:r>
                    </a:p>
                    <a:p>
                      <a:r>
                        <a:rPr lang="en-US" sz="1800" dirty="0"/>
                        <a:t>No representation of transfers.</a:t>
                      </a:r>
                    </a:p>
                  </a:txBody>
                  <a:tcPr/>
                </a:tc>
                <a:extLst>
                  <a:ext uri="{0D108BD9-81ED-4DB2-BD59-A6C34878D82A}">
                    <a16:rowId xmlns:a16="http://schemas.microsoft.com/office/drawing/2014/main" val="625281467"/>
                  </a:ext>
                </a:extLst>
              </a:tr>
              <a:tr h="996648">
                <a:tc>
                  <a:txBody>
                    <a:bodyPr/>
                    <a:lstStyle/>
                    <a:p>
                      <a:r>
                        <a:rPr lang="en-US" sz="1800" dirty="0"/>
                        <a:t>Regional “net survival”</a:t>
                      </a:r>
                    </a:p>
                  </a:txBody>
                  <a:tcPr/>
                </a:tc>
                <a:tc>
                  <a:txBody>
                    <a:bodyPr/>
                    <a:lstStyle/>
                    <a:p>
                      <a:r>
                        <a:rPr lang="en-US" sz="1800" dirty="0"/>
                        <a:t>Potentially better representation of regional dynamics</a:t>
                      </a:r>
                    </a:p>
                  </a:txBody>
                  <a:tcPr/>
                </a:tc>
                <a:tc>
                  <a:txBody>
                    <a:bodyPr/>
                    <a:lstStyle/>
                    <a:p>
                      <a:r>
                        <a:rPr lang="en-US" sz="1800" dirty="0"/>
                        <a:t>Potential discrepancies with national turnover</a:t>
                      </a:r>
                    </a:p>
                    <a:p>
                      <a:r>
                        <a:rPr lang="en-US" sz="1800" dirty="0"/>
                        <a:t>Negative net survival (imports) may not draw from available stock</a:t>
                      </a:r>
                    </a:p>
                    <a:p>
                      <a:r>
                        <a:rPr lang="en-US" sz="1800" dirty="0"/>
                        <a:t>General net survival rates may under/overestimate changes to technology-specific vehicle stock</a:t>
                      </a:r>
                    </a:p>
                  </a:txBody>
                  <a:tcPr/>
                </a:tc>
                <a:extLst>
                  <a:ext uri="{0D108BD9-81ED-4DB2-BD59-A6C34878D82A}">
                    <a16:rowId xmlns:a16="http://schemas.microsoft.com/office/drawing/2014/main" val="2723171169"/>
                  </a:ext>
                </a:extLst>
              </a:tr>
              <a:tr h="996648">
                <a:tc>
                  <a:txBody>
                    <a:bodyPr/>
                    <a:lstStyle/>
                    <a:p>
                      <a:r>
                        <a:rPr lang="en-US" sz="1800" dirty="0"/>
                        <a:t>Full model of used market and transfers between regions</a:t>
                      </a:r>
                    </a:p>
                  </a:txBody>
                  <a:tcPr/>
                </a:tc>
                <a:tc>
                  <a:txBody>
                    <a:bodyPr/>
                    <a:lstStyle/>
                    <a:p>
                      <a:endParaRPr lang="en-US" sz="1800" dirty="0"/>
                    </a:p>
                  </a:txBody>
                  <a:tcPr/>
                </a:tc>
                <a:tc>
                  <a:txBody>
                    <a:bodyPr/>
                    <a:lstStyle/>
                    <a:p>
                      <a:r>
                        <a:rPr lang="en-US" sz="1800" dirty="0"/>
                        <a:t>Lack of data/model/theory</a:t>
                      </a:r>
                    </a:p>
                    <a:p>
                      <a:r>
                        <a:rPr lang="en-US" sz="1800" dirty="0"/>
                        <a:t>Complex – regions can’t be run independently</a:t>
                      </a:r>
                    </a:p>
                    <a:p>
                      <a:r>
                        <a:rPr lang="en-US" sz="1800" dirty="0"/>
                        <a:t>Embeds current patterns</a:t>
                      </a:r>
                    </a:p>
                  </a:txBody>
                  <a:tcPr/>
                </a:tc>
                <a:extLst>
                  <a:ext uri="{0D108BD9-81ED-4DB2-BD59-A6C34878D82A}">
                    <a16:rowId xmlns:a16="http://schemas.microsoft.com/office/drawing/2014/main" val="384306770"/>
                  </a:ext>
                </a:extLst>
              </a:tr>
            </a:tbl>
          </a:graphicData>
        </a:graphic>
      </p:graphicFrame>
    </p:spTree>
    <p:extLst>
      <p:ext uri="{BB962C8B-B14F-4D97-AF65-F5344CB8AC3E}">
        <p14:creationId xmlns:p14="http://schemas.microsoft.com/office/powerpoint/2010/main" val="1154363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2DB5A-5DCC-6B6F-917E-CBAA82644E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B123D-7B22-90B8-2605-A4C108DDFFE5}"/>
              </a:ext>
            </a:extLst>
          </p:cNvPr>
          <p:cNvSpPr>
            <a:spLocks noGrp="1"/>
          </p:cNvSpPr>
          <p:nvPr>
            <p:ph type="title"/>
          </p:nvPr>
        </p:nvSpPr>
        <p:spPr>
          <a:xfrm>
            <a:off x="609599" y="1"/>
            <a:ext cx="11005458" cy="1209524"/>
          </a:xfrm>
        </p:spPr>
        <p:txBody>
          <a:bodyPr/>
          <a:lstStyle/>
          <a:p>
            <a:r>
              <a:rPr lang="en-US" dirty="0"/>
              <a:t>The age distribution of vehicle stock differs varies across the US</a:t>
            </a:r>
          </a:p>
        </p:txBody>
      </p:sp>
      <p:pic>
        <p:nvPicPr>
          <p:cNvPr id="6" name="Picture 5">
            <a:extLst>
              <a:ext uri="{FF2B5EF4-FFF2-40B4-BE49-F238E27FC236}">
                <a16:creationId xmlns:a16="http://schemas.microsoft.com/office/drawing/2014/main" id="{EA4A9A96-7C22-3DB9-25AB-A4B11177C54A}"/>
              </a:ext>
            </a:extLst>
          </p:cNvPr>
          <p:cNvPicPr>
            <a:picLocks noChangeAspect="1"/>
          </p:cNvPicPr>
          <p:nvPr/>
        </p:nvPicPr>
        <p:blipFill>
          <a:blip r:embed="rId2"/>
          <a:stretch>
            <a:fillRect/>
          </a:stretch>
        </p:blipFill>
        <p:spPr>
          <a:xfrm>
            <a:off x="2210625" y="1323698"/>
            <a:ext cx="7803405" cy="5461565"/>
          </a:xfrm>
          <a:prstGeom prst="rect">
            <a:avLst/>
          </a:prstGeom>
        </p:spPr>
      </p:pic>
    </p:spTree>
    <p:extLst>
      <p:ext uri="{BB962C8B-B14F-4D97-AF65-F5344CB8AC3E}">
        <p14:creationId xmlns:p14="http://schemas.microsoft.com/office/powerpoint/2010/main" val="2918345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9A3E9-D37E-2607-AE9A-EF4106107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1996F-4DFA-D095-19B6-9EC08B60A85A}"/>
              </a:ext>
            </a:extLst>
          </p:cNvPr>
          <p:cNvSpPr>
            <a:spLocks noGrp="1"/>
          </p:cNvSpPr>
          <p:nvPr>
            <p:ph type="title"/>
          </p:nvPr>
        </p:nvSpPr>
        <p:spPr>
          <a:xfrm>
            <a:off x="609599" y="1"/>
            <a:ext cx="11005458" cy="1209524"/>
          </a:xfrm>
        </p:spPr>
        <p:txBody>
          <a:bodyPr/>
          <a:lstStyle/>
          <a:p>
            <a:r>
              <a:rPr lang="en-US" dirty="0"/>
              <a:t>Differences in age distribution are starker at the county level</a:t>
            </a:r>
          </a:p>
        </p:txBody>
      </p:sp>
      <p:pic>
        <p:nvPicPr>
          <p:cNvPr id="4" name="Picture 3" descr="Map&#10;&#10;Description automatically generated">
            <a:extLst>
              <a:ext uri="{FF2B5EF4-FFF2-40B4-BE49-F238E27FC236}">
                <a16:creationId xmlns:a16="http://schemas.microsoft.com/office/drawing/2014/main" id="{691E0FE2-6EF2-7F82-51C9-9BAD93D89169}"/>
              </a:ext>
            </a:extLst>
          </p:cNvPr>
          <p:cNvPicPr>
            <a:picLocks noChangeAspect="1"/>
          </p:cNvPicPr>
          <p:nvPr/>
        </p:nvPicPr>
        <p:blipFill>
          <a:blip r:embed="rId2"/>
          <a:stretch>
            <a:fillRect/>
          </a:stretch>
        </p:blipFill>
        <p:spPr>
          <a:xfrm>
            <a:off x="2578110" y="2253858"/>
            <a:ext cx="5413066" cy="3341399"/>
          </a:xfrm>
          <a:prstGeom prst="rect">
            <a:avLst/>
          </a:prstGeom>
        </p:spPr>
      </p:pic>
      <p:pic>
        <p:nvPicPr>
          <p:cNvPr id="5" name="Picture 4">
            <a:extLst>
              <a:ext uri="{FF2B5EF4-FFF2-40B4-BE49-F238E27FC236}">
                <a16:creationId xmlns:a16="http://schemas.microsoft.com/office/drawing/2014/main" id="{B3BE67F3-DCB3-538E-56AE-1C7D88C89F1F}"/>
              </a:ext>
            </a:extLst>
          </p:cNvPr>
          <p:cNvPicPr>
            <a:picLocks noChangeAspect="1"/>
          </p:cNvPicPr>
          <p:nvPr/>
        </p:nvPicPr>
        <p:blipFill>
          <a:blip r:embed="rId3"/>
          <a:stretch>
            <a:fillRect/>
          </a:stretch>
        </p:blipFill>
        <p:spPr>
          <a:xfrm>
            <a:off x="567391" y="1493775"/>
            <a:ext cx="1409897" cy="1209844"/>
          </a:xfrm>
          <a:prstGeom prst="rect">
            <a:avLst/>
          </a:prstGeom>
        </p:spPr>
      </p:pic>
      <p:pic>
        <p:nvPicPr>
          <p:cNvPr id="7" name="Picture 6">
            <a:extLst>
              <a:ext uri="{FF2B5EF4-FFF2-40B4-BE49-F238E27FC236}">
                <a16:creationId xmlns:a16="http://schemas.microsoft.com/office/drawing/2014/main" id="{AD1464AA-4A90-627A-1F3C-13A45EB2BD4D}"/>
              </a:ext>
            </a:extLst>
          </p:cNvPr>
          <p:cNvPicPr>
            <a:picLocks noChangeAspect="1"/>
          </p:cNvPicPr>
          <p:nvPr/>
        </p:nvPicPr>
        <p:blipFill>
          <a:blip r:embed="rId4"/>
          <a:stretch>
            <a:fillRect/>
          </a:stretch>
        </p:blipFill>
        <p:spPr>
          <a:xfrm>
            <a:off x="558073" y="2770852"/>
            <a:ext cx="1381318" cy="1171739"/>
          </a:xfrm>
          <a:prstGeom prst="rect">
            <a:avLst/>
          </a:prstGeom>
        </p:spPr>
      </p:pic>
      <p:pic>
        <p:nvPicPr>
          <p:cNvPr id="9" name="Picture 8">
            <a:extLst>
              <a:ext uri="{FF2B5EF4-FFF2-40B4-BE49-F238E27FC236}">
                <a16:creationId xmlns:a16="http://schemas.microsoft.com/office/drawing/2014/main" id="{AB7D4A04-133F-4A71-E4D2-87AEF7135FBE}"/>
              </a:ext>
            </a:extLst>
          </p:cNvPr>
          <p:cNvPicPr>
            <a:picLocks noChangeAspect="1"/>
          </p:cNvPicPr>
          <p:nvPr/>
        </p:nvPicPr>
        <p:blipFill>
          <a:blip r:embed="rId5"/>
          <a:stretch>
            <a:fillRect/>
          </a:stretch>
        </p:blipFill>
        <p:spPr>
          <a:xfrm>
            <a:off x="581680" y="4009824"/>
            <a:ext cx="1381318" cy="1219370"/>
          </a:xfrm>
          <a:prstGeom prst="rect">
            <a:avLst/>
          </a:prstGeom>
        </p:spPr>
      </p:pic>
      <p:pic>
        <p:nvPicPr>
          <p:cNvPr id="14" name="Picture 13">
            <a:extLst>
              <a:ext uri="{FF2B5EF4-FFF2-40B4-BE49-F238E27FC236}">
                <a16:creationId xmlns:a16="http://schemas.microsoft.com/office/drawing/2014/main" id="{CE6C6398-FE93-5D21-0E2A-B18DCAD030F7}"/>
              </a:ext>
            </a:extLst>
          </p:cNvPr>
          <p:cNvPicPr>
            <a:picLocks noChangeAspect="1"/>
          </p:cNvPicPr>
          <p:nvPr/>
        </p:nvPicPr>
        <p:blipFill>
          <a:blip r:embed="rId6"/>
          <a:stretch>
            <a:fillRect/>
          </a:stretch>
        </p:blipFill>
        <p:spPr>
          <a:xfrm>
            <a:off x="3429339" y="1271216"/>
            <a:ext cx="1343212" cy="1162212"/>
          </a:xfrm>
          <a:prstGeom prst="rect">
            <a:avLst/>
          </a:prstGeom>
        </p:spPr>
      </p:pic>
      <p:pic>
        <p:nvPicPr>
          <p:cNvPr id="18" name="Picture 17">
            <a:extLst>
              <a:ext uri="{FF2B5EF4-FFF2-40B4-BE49-F238E27FC236}">
                <a16:creationId xmlns:a16="http://schemas.microsoft.com/office/drawing/2014/main" id="{E4D71DE9-A059-EE90-1BC1-EFAA1959C845}"/>
              </a:ext>
            </a:extLst>
          </p:cNvPr>
          <p:cNvPicPr>
            <a:picLocks noChangeAspect="1"/>
          </p:cNvPicPr>
          <p:nvPr/>
        </p:nvPicPr>
        <p:blipFill>
          <a:blip r:embed="rId7"/>
          <a:stretch>
            <a:fillRect/>
          </a:stretch>
        </p:blipFill>
        <p:spPr>
          <a:xfrm>
            <a:off x="4904802" y="1271216"/>
            <a:ext cx="1343212" cy="1171739"/>
          </a:xfrm>
          <a:prstGeom prst="rect">
            <a:avLst/>
          </a:prstGeom>
        </p:spPr>
      </p:pic>
      <p:pic>
        <p:nvPicPr>
          <p:cNvPr id="22" name="Picture 21">
            <a:extLst>
              <a:ext uri="{FF2B5EF4-FFF2-40B4-BE49-F238E27FC236}">
                <a16:creationId xmlns:a16="http://schemas.microsoft.com/office/drawing/2014/main" id="{FBA4F09C-6CB6-D85A-3BDE-BC3D83E199D5}"/>
              </a:ext>
            </a:extLst>
          </p:cNvPr>
          <p:cNvPicPr>
            <a:picLocks noChangeAspect="1"/>
          </p:cNvPicPr>
          <p:nvPr/>
        </p:nvPicPr>
        <p:blipFill>
          <a:blip r:embed="rId8"/>
          <a:stretch>
            <a:fillRect/>
          </a:stretch>
        </p:blipFill>
        <p:spPr>
          <a:xfrm>
            <a:off x="6283164" y="1289861"/>
            <a:ext cx="1343212" cy="1143160"/>
          </a:xfrm>
          <a:prstGeom prst="rect">
            <a:avLst/>
          </a:prstGeom>
        </p:spPr>
      </p:pic>
      <p:pic>
        <p:nvPicPr>
          <p:cNvPr id="26" name="Picture 25">
            <a:extLst>
              <a:ext uri="{FF2B5EF4-FFF2-40B4-BE49-F238E27FC236}">
                <a16:creationId xmlns:a16="http://schemas.microsoft.com/office/drawing/2014/main" id="{BF5D77DE-299E-5FFC-AC6B-72A13F0AB4CE}"/>
              </a:ext>
            </a:extLst>
          </p:cNvPr>
          <p:cNvPicPr>
            <a:picLocks noChangeAspect="1"/>
          </p:cNvPicPr>
          <p:nvPr/>
        </p:nvPicPr>
        <p:blipFill>
          <a:blip r:embed="rId9"/>
          <a:stretch>
            <a:fillRect/>
          </a:stretch>
        </p:blipFill>
        <p:spPr>
          <a:xfrm>
            <a:off x="10786014" y="2098697"/>
            <a:ext cx="1362265" cy="1181265"/>
          </a:xfrm>
          <a:prstGeom prst="rect">
            <a:avLst/>
          </a:prstGeom>
        </p:spPr>
      </p:pic>
      <p:pic>
        <p:nvPicPr>
          <p:cNvPr id="30" name="Picture 29">
            <a:extLst>
              <a:ext uri="{FF2B5EF4-FFF2-40B4-BE49-F238E27FC236}">
                <a16:creationId xmlns:a16="http://schemas.microsoft.com/office/drawing/2014/main" id="{C6736ED8-ABD1-C917-1204-239A087EC654}"/>
              </a:ext>
            </a:extLst>
          </p:cNvPr>
          <p:cNvPicPr>
            <a:picLocks noChangeAspect="1"/>
          </p:cNvPicPr>
          <p:nvPr/>
        </p:nvPicPr>
        <p:blipFill>
          <a:blip r:embed="rId10"/>
          <a:stretch>
            <a:fillRect/>
          </a:stretch>
        </p:blipFill>
        <p:spPr>
          <a:xfrm>
            <a:off x="7975747" y="2084583"/>
            <a:ext cx="2810267" cy="1190791"/>
          </a:xfrm>
          <a:prstGeom prst="rect">
            <a:avLst/>
          </a:prstGeom>
        </p:spPr>
      </p:pic>
      <p:pic>
        <p:nvPicPr>
          <p:cNvPr id="34" name="Picture 33">
            <a:extLst>
              <a:ext uri="{FF2B5EF4-FFF2-40B4-BE49-F238E27FC236}">
                <a16:creationId xmlns:a16="http://schemas.microsoft.com/office/drawing/2014/main" id="{A3CDB7F6-6F89-4C4C-4398-4E04E9BE0F85}"/>
              </a:ext>
            </a:extLst>
          </p:cNvPr>
          <p:cNvPicPr>
            <a:picLocks noChangeAspect="1"/>
          </p:cNvPicPr>
          <p:nvPr/>
        </p:nvPicPr>
        <p:blipFill>
          <a:blip r:embed="rId11"/>
          <a:stretch>
            <a:fillRect/>
          </a:stretch>
        </p:blipFill>
        <p:spPr>
          <a:xfrm>
            <a:off x="8025426" y="3423954"/>
            <a:ext cx="1381318" cy="1171739"/>
          </a:xfrm>
          <a:prstGeom prst="rect">
            <a:avLst/>
          </a:prstGeom>
        </p:spPr>
      </p:pic>
      <p:pic>
        <p:nvPicPr>
          <p:cNvPr id="38" name="Picture 37">
            <a:extLst>
              <a:ext uri="{FF2B5EF4-FFF2-40B4-BE49-F238E27FC236}">
                <a16:creationId xmlns:a16="http://schemas.microsoft.com/office/drawing/2014/main" id="{86575975-577D-406B-4580-A412966A32B5}"/>
              </a:ext>
            </a:extLst>
          </p:cNvPr>
          <p:cNvPicPr>
            <a:picLocks noChangeAspect="1"/>
          </p:cNvPicPr>
          <p:nvPr/>
        </p:nvPicPr>
        <p:blipFill>
          <a:blip r:embed="rId12"/>
          <a:stretch>
            <a:fillRect/>
          </a:stretch>
        </p:blipFill>
        <p:spPr>
          <a:xfrm>
            <a:off x="9409821" y="3403629"/>
            <a:ext cx="1371791" cy="1209844"/>
          </a:xfrm>
          <a:prstGeom prst="rect">
            <a:avLst/>
          </a:prstGeom>
        </p:spPr>
      </p:pic>
      <p:pic>
        <p:nvPicPr>
          <p:cNvPr id="40" name="Picture 39">
            <a:extLst>
              <a:ext uri="{FF2B5EF4-FFF2-40B4-BE49-F238E27FC236}">
                <a16:creationId xmlns:a16="http://schemas.microsoft.com/office/drawing/2014/main" id="{7D8B11E9-C4B5-A093-F45B-CFEF7A6A6350}"/>
              </a:ext>
            </a:extLst>
          </p:cNvPr>
          <p:cNvPicPr>
            <a:picLocks noChangeAspect="1"/>
          </p:cNvPicPr>
          <p:nvPr/>
        </p:nvPicPr>
        <p:blipFill>
          <a:blip r:embed="rId13"/>
          <a:stretch>
            <a:fillRect/>
          </a:stretch>
        </p:blipFill>
        <p:spPr>
          <a:xfrm>
            <a:off x="10801061" y="4852589"/>
            <a:ext cx="1381318" cy="1190791"/>
          </a:xfrm>
          <a:prstGeom prst="rect">
            <a:avLst/>
          </a:prstGeom>
        </p:spPr>
      </p:pic>
      <p:pic>
        <p:nvPicPr>
          <p:cNvPr id="42" name="Picture 41">
            <a:extLst>
              <a:ext uri="{FF2B5EF4-FFF2-40B4-BE49-F238E27FC236}">
                <a16:creationId xmlns:a16="http://schemas.microsoft.com/office/drawing/2014/main" id="{CBEAE87B-D42C-F874-897C-D0BFCA5F7EDF}"/>
              </a:ext>
            </a:extLst>
          </p:cNvPr>
          <p:cNvPicPr>
            <a:picLocks noChangeAspect="1"/>
          </p:cNvPicPr>
          <p:nvPr/>
        </p:nvPicPr>
        <p:blipFill>
          <a:blip r:embed="rId14"/>
          <a:stretch>
            <a:fillRect/>
          </a:stretch>
        </p:blipFill>
        <p:spPr>
          <a:xfrm>
            <a:off x="9413589" y="4877454"/>
            <a:ext cx="1371791" cy="1181265"/>
          </a:xfrm>
          <a:prstGeom prst="rect">
            <a:avLst/>
          </a:prstGeom>
        </p:spPr>
      </p:pic>
      <p:pic>
        <p:nvPicPr>
          <p:cNvPr id="44" name="Picture 43">
            <a:extLst>
              <a:ext uri="{FF2B5EF4-FFF2-40B4-BE49-F238E27FC236}">
                <a16:creationId xmlns:a16="http://schemas.microsoft.com/office/drawing/2014/main" id="{DC357940-D5DC-725E-AE65-A22714C764C7}"/>
              </a:ext>
            </a:extLst>
          </p:cNvPr>
          <p:cNvPicPr>
            <a:picLocks noChangeAspect="1"/>
          </p:cNvPicPr>
          <p:nvPr/>
        </p:nvPicPr>
        <p:blipFill>
          <a:blip r:embed="rId15"/>
          <a:stretch>
            <a:fillRect/>
          </a:stretch>
        </p:blipFill>
        <p:spPr>
          <a:xfrm>
            <a:off x="250040" y="5248796"/>
            <a:ext cx="1724266" cy="1609950"/>
          </a:xfrm>
          <a:prstGeom prst="rect">
            <a:avLst/>
          </a:prstGeom>
        </p:spPr>
      </p:pic>
      <p:pic>
        <p:nvPicPr>
          <p:cNvPr id="46" name="Picture 45">
            <a:extLst>
              <a:ext uri="{FF2B5EF4-FFF2-40B4-BE49-F238E27FC236}">
                <a16:creationId xmlns:a16="http://schemas.microsoft.com/office/drawing/2014/main" id="{1B05970C-0EF1-8D0E-A679-9AB1941FCF99}"/>
              </a:ext>
            </a:extLst>
          </p:cNvPr>
          <p:cNvPicPr>
            <a:picLocks noChangeAspect="1"/>
          </p:cNvPicPr>
          <p:nvPr/>
        </p:nvPicPr>
        <p:blipFill>
          <a:blip r:embed="rId16"/>
          <a:stretch>
            <a:fillRect/>
          </a:stretch>
        </p:blipFill>
        <p:spPr>
          <a:xfrm>
            <a:off x="2111882" y="5300751"/>
            <a:ext cx="1371791" cy="1181265"/>
          </a:xfrm>
          <a:prstGeom prst="rect">
            <a:avLst/>
          </a:prstGeom>
        </p:spPr>
      </p:pic>
      <p:pic>
        <p:nvPicPr>
          <p:cNvPr id="48" name="Picture 47">
            <a:extLst>
              <a:ext uri="{FF2B5EF4-FFF2-40B4-BE49-F238E27FC236}">
                <a16:creationId xmlns:a16="http://schemas.microsoft.com/office/drawing/2014/main" id="{24D8B5D7-B92A-715E-5738-E15AEB84267A}"/>
              </a:ext>
            </a:extLst>
          </p:cNvPr>
          <p:cNvPicPr>
            <a:picLocks noChangeAspect="1"/>
          </p:cNvPicPr>
          <p:nvPr/>
        </p:nvPicPr>
        <p:blipFill>
          <a:blip r:embed="rId17"/>
          <a:stretch>
            <a:fillRect/>
          </a:stretch>
        </p:blipFill>
        <p:spPr>
          <a:xfrm>
            <a:off x="3541782" y="5319803"/>
            <a:ext cx="1381318" cy="1143160"/>
          </a:xfrm>
          <a:prstGeom prst="rect">
            <a:avLst/>
          </a:prstGeom>
        </p:spPr>
      </p:pic>
      <p:pic>
        <p:nvPicPr>
          <p:cNvPr id="50" name="Picture 49">
            <a:extLst>
              <a:ext uri="{FF2B5EF4-FFF2-40B4-BE49-F238E27FC236}">
                <a16:creationId xmlns:a16="http://schemas.microsoft.com/office/drawing/2014/main" id="{C61147FB-B882-E1E0-980B-09DEA3DEFACB}"/>
              </a:ext>
            </a:extLst>
          </p:cNvPr>
          <p:cNvPicPr>
            <a:picLocks noChangeAspect="1"/>
          </p:cNvPicPr>
          <p:nvPr/>
        </p:nvPicPr>
        <p:blipFill>
          <a:blip r:embed="rId18"/>
          <a:stretch>
            <a:fillRect/>
          </a:stretch>
        </p:blipFill>
        <p:spPr>
          <a:xfrm>
            <a:off x="4981209" y="5315040"/>
            <a:ext cx="1362265" cy="1152686"/>
          </a:xfrm>
          <a:prstGeom prst="rect">
            <a:avLst/>
          </a:prstGeom>
        </p:spPr>
      </p:pic>
      <p:pic>
        <p:nvPicPr>
          <p:cNvPr id="52" name="Picture 51">
            <a:extLst>
              <a:ext uri="{FF2B5EF4-FFF2-40B4-BE49-F238E27FC236}">
                <a16:creationId xmlns:a16="http://schemas.microsoft.com/office/drawing/2014/main" id="{ABD42307-A896-9768-C99E-2AB2B0BA2A67}"/>
              </a:ext>
            </a:extLst>
          </p:cNvPr>
          <p:cNvPicPr>
            <a:picLocks noChangeAspect="1"/>
          </p:cNvPicPr>
          <p:nvPr/>
        </p:nvPicPr>
        <p:blipFill>
          <a:blip r:embed="rId19"/>
          <a:stretch>
            <a:fillRect/>
          </a:stretch>
        </p:blipFill>
        <p:spPr>
          <a:xfrm>
            <a:off x="6399321" y="5300751"/>
            <a:ext cx="1371791" cy="1181265"/>
          </a:xfrm>
          <a:prstGeom prst="rect">
            <a:avLst/>
          </a:prstGeom>
        </p:spPr>
      </p:pic>
      <p:pic>
        <p:nvPicPr>
          <p:cNvPr id="54" name="Picture 53">
            <a:extLst>
              <a:ext uri="{FF2B5EF4-FFF2-40B4-BE49-F238E27FC236}">
                <a16:creationId xmlns:a16="http://schemas.microsoft.com/office/drawing/2014/main" id="{CF0E9469-FDB1-2D7D-1568-3F686B0CE18D}"/>
              </a:ext>
            </a:extLst>
          </p:cNvPr>
          <p:cNvPicPr>
            <a:picLocks noChangeAspect="1"/>
          </p:cNvPicPr>
          <p:nvPr/>
        </p:nvPicPr>
        <p:blipFill>
          <a:blip r:embed="rId20"/>
          <a:stretch>
            <a:fillRect/>
          </a:stretch>
        </p:blipFill>
        <p:spPr>
          <a:xfrm>
            <a:off x="8034952" y="4849283"/>
            <a:ext cx="1362265" cy="1162212"/>
          </a:xfrm>
          <a:prstGeom prst="rect">
            <a:avLst/>
          </a:prstGeom>
        </p:spPr>
      </p:pic>
      <p:pic>
        <p:nvPicPr>
          <p:cNvPr id="55" name="Picture 54">
            <a:extLst>
              <a:ext uri="{FF2B5EF4-FFF2-40B4-BE49-F238E27FC236}">
                <a16:creationId xmlns:a16="http://schemas.microsoft.com/office/drawing/2014/main" id="{FA15DED5-F692-4712-E047-93530CC93B12}"/>
              </a:ext>
            </a:extLst>
          </p:cNvPr>
          <p:cNvPicPr>
            <a:picLocks noChangeAspect="1"/>
          </p:cNvPicPr>
          <p:nvPr/>
        </p:nvPicPr>
        <p:blipFill>
          <a:blip r:embed="rId21"/>
          <a:stretch>
            <a:fillRect/>
          </a:stretch>
        </p:blipFill>
        <p:spPr>
          <a:xfrm>
            <a:off x="4100945" y="3178441"/>
            <a:ext cx="1381318" cy="1103067"/>
          </a:xfrm>
          <a:prstGeom prst="rect">
            <a:avLst/>
          </a:prstGeom>
        </p:spPr>
      </p:pic>
    </p:spTree>
    <p:extLst>
      <p:ext uri="{BB962C8B-B14F-4D97-AF65-F5344CB8AC3E}">
        <p14:creationId xmlns:p14="http://schemas.microsoft.com/office/powerpoint/2010/main" val="1810225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577E1-2290-B0FC-8215-4D68541BE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6E857-E6FB-D0A8-4CE9-56248B990878}"/>
              </a:ext>
            </a:extLst>
          </p:cNvPr>
          <p:cNvSpPr>
            <a:spLocks noGrp="1"/>
          </p:cNvSpPr>
          <p:nvPr>
            <p:ph type="title"/>
          </p:nvPr>
        </p:nvSpPr>
        <p:spPr>
          <a:xfrm>
            <a:off x="609599" y="1"/>
            <a:ext cx="11005458" cy="1209524"/>
          </a:xfrm>
        </p:spPr>
        <p:txBody>
          <a:bodyPr/>
          <a:lstStyle/>
          <a:p>
            <a:r>
              <a:rPr lang="en-US" dirty="0"/>
              <a:t>Applying the national survival to 2050 produces the expected steady-state stock, same in every county</a:t>
            </a:r>
          </a:p>
        </p:txBody>
      </p:sp>
      <p:pic>
        <p:nvPicPr>
          <p:cNvPr id="4" name="Picture 3" descr="Map&#10;&#10;Description automatically generated">
            <a:extLst>
              <a:ext uri="{FF2B5EF4-FFF2-40B4-BE49-F238E27FC236}">
                <a16:creationId xmlns:a16="http://schemas.microsoft.com/office/drawing/2014/main" id="{A3EEE878-D5A8-C5D7-5037-C758A23827EF}"/>
              </a:ext>
            </a:extLst>
          </p:cNvPr>
          <p:cNvPicPr>
            <a:picLocks noChangeAspect="1"/>
          </p:cNvPicPr>
          <p:nvPr/>
        </p:nvPicPr>
        <p:blipFill>
          <a:blip r:embed="rId2"/>
          <a:stretch>
            <a:fillRect/>
          </a:stretch>
        </p:blipFill>
        <p:spPr>
          <a:xfrm>
            <a:off x="2578110" y="2253858"/>
            <a:ext cx="5413066" cy="3341399"/>
          </a:xfrm>
          <a:prstGeom prst="rect">
            <a:avLst/>
          </a:prstGeom>
        </p:spPr>
      </p:pic>
      <p:pic>
        <p:nvPicPr>
          <p:cNvPr id="12" name="Picture 11">
            <a:extLst>
              <a:ext uri="{FF2B5EF4-FFF2-40B4-BE49-F238E27FC236}">
                <a16:creationId xmlns:a16="http://schemas.microsoft.com/office/drawing/2014/main" id="{20A6C74B-B89B-255D-33EE-89B4CFBB734C}"/>
              </a:ext>
            </a:extLst>
          </p:cNvPr>
          <p:cNvPicPr>
            <a:picLocks noChangeAspect="1"/>
          </p:cNvPicPr>
          <p:nvPr/>
        </p:nvPicPr>
        <p:blipFill>
          <a:blip r:embed="rId3"/>
          <a:stretch>
            <a:fillRect/>
          </a:stretch>
        </p:blipFill>
        <p:spPr>
          <a:xfrm>
            <a:off x="2628596" y="2342197"/>
            <a:ext cx="4601977" cy="3035346"/>
          </a:xfrm>
          <a:prstGeom prst="rect">
            <a:avLst/>
          </a:prstGeom>
        </p:spPr>
      </p:pic>
      <p:pic>
        <p:nvPicPr>
          <p:cNvPr id="14" name="Picture 13">
            <a:extLst>
              <a:ext uri="{FF2B5EF4-FFF2-40B4-BE49-F238E27FC236}">
                <a16:creationId xmlns:a16="http://schemas.microsoft.com/office/drawing/2014/main" id="{CE125F75-4738-EE73-CE93-32C832A53F6E}"/>
              </a:ext>
            </a:extLst>
          </p:cNvPr>
          <p:cNvPicPr>
            <a:picLocks noChangeAspect="1"/>
          </p:cNvPicPr>
          <p:nvPr/>
        </p:nvPicPr>
        <p:blipFill>
          <a:blip r:embed="rId4"/>
          <a:stretch>
            <a:fillRect/>
          </a:stretch>
        </p:blipFill>
        <p:spPr>
          <a:xfrm>
            <a:off x="4180919" y="3366655"/>
            <a:ext cx="998699" cy="797522"/>
          </a:xfrm>
          <a:prstGeom prst="rect">
            <a:avLst/>
          </a:prstGeom>
        </p:spPr>
      </p:pic>
      <p:pic>
        <p:nvPicPr>
          <p:cNvPr id="15" name="Picture 14">
            <a:extLst>
              <a:ext uri="{FF2B5EF4-FFF2-40B4-BE49-F238E27FC236}">
                <a16:creationId xmlns:a16="http://schemas.microsoft.com/office/drawing/2014/main" id="{275E1932-430D-024D-005C-0B92131EBCCF}"/>
              </a:ext>
            </a:extLst>
          </p:cNvPr>
          <p:cNvPicPr>
            <a:picLocks noChangeAspect="1"/>
          </p:cNvPicPr>
          <p:nvPr/>
        </p:nvPicPr>
        <p:blipFill>
          <a:blip r:embed="rId4"/>
          <a:stretch>
            <a:fillRect/>
          </a:stretch>
        </p:blipFill>
        <p:spPr>
          <a:xfrm>
            <a:off x="609599" y="1579096"/>
            <a:ext cx="1689945" cy="1349524"/>
          </a:xfrm>
          <a:prstGeom prst="rect">
            <a:avLst/>
          </a:prstGeom>
        </p:spPr>
      </p:pic>
      <p:pic>
        <p:nvPicPr>
          <p:cNvPr id="16" name="Picture 15">
            <a:extLst>
              <a:ext uri="{FF2B5EF4-FFF2-40B4-BE49-F238E27FC236}">
                <a16:creationId xmlns:a16="http://schemas.microsoft.com/office/drawing/2014/main" id="{FD3CBFF2-31C7-0768-8FB6-6652D712C2C5}"/>
              </a:ext>
            </a:extLst>
          </p:cNvPr>
          <p:cNvPicPr>
            <a:picLocks noChangeAspect="1"/>
          </p:cNvPicPr>
          <p:nvPr/>
        </p:nvPicPr>
        <p:blipFill>
          <a:blip r:embed="rId4"/>
          <a:stretch>
            <a:fillRect/>
          </a:stretch>
        </p:blipFill>
        <p:spPr>
          <a:xfrm>
            <a:off x="888165" y="4604142"/>
            <a:ext cx="1689945" cy="1349524"/>
          </a:xfrm>
          <a:prstGeom prst="rect">
            <a:avLst/>
          </a:prstGeom>
        </p:spPr>
      </p:pic>
      <p:pic>
        <p:nvPicPr>
          <p:cNvPr id="17" name="Picture 16">
            <a:extLst>
              <a:ext uri="{FF2B5EF4-FFF2-40B4-BE49-F238E27FC236}">
                <a16:creationId xmlns:a16="http://schemas.microsoft.com/office/drawing/2014/main" id="{B2E55384-8D1C-4F18-EDCF-C69790194DC2}"/>
              </a:ext>
            </a:extLst>
          </p:cNvPr>
          <p:cNvPicPr>
            <a:picLocks noChangeAspect="1"/>
          </p:cNvPicPr>
          <p:nvPr/>
        </p:nvPicPr>
        <p:blipFill>
          <a:blip r:embed="rId4"/>
          <a:stretch>
            <a:fillRect/>
          </a:stretch>
        </p:blipFill>
        <p:spPr>
          <a:xfrm>
            <a:off x="4422383" y="5439552"/>
            <a:ext cx="1689945" cy="1349524"/>
          </a:xfrm>
          <a:prstGeom prst="rect">
            <a:avLst/>
          </a:prstGeom>
        </p:spPr>
      </p:pic>
      <p:pic>
        <p:nvPicPr>
          <p:cNvPr id="18" name="Picture 17">
            <a:extLst>
              <a:ext uri="{FF2B5EF4-FFF2-40B4-BE49-F238E27FC236}">
                <a16:creationId xmlns:a16="http://schemas.microsoft.com/office/drawing/2014/main" id="{2E5360F3-D349-3B18-9ADD-A790722B7572}"/>
              </a:ext>
            </a:extLst>
          </p:cNvPr>
          <p:cNvPicPr>
            <a:picLocks noChangeAspect="1"/>
          </p:cNvPicPr>
          <p:nvPr/>
        </p:nvPicPr>
        <p:blipFill>
          <a:blip r:embed="rId4"/>
          <a:stretch>
            <a:fillRect/>
          </a:stretch>
        </p:blipFill>
        <p:spPr>
          <a:xfrm>
            <a:off x="8836148" y="1707981"/>
            <a:ext cx="1689945" cy="1349524"/>
          </a:xfrm>
          <a:prstGeom prst="rect">
            <a:avLst/>
          </a:prstGeom>
        </p:spPr>
      </p:pic>
      <p:pic>
        <p:nvPicPr>
          <p:cNvPr id="19" name="Picture 18">
            <a:extLst>
              <a:ext uri="{FF2B5EF4-FFF2-40B4-BE49-F238E27FC236}">
                <a16:creationId xmlns:a16="http://schemas.microsoft.com/office/drawing/2014/main" id="{0E6A4264-F8A3-2A87-2A97-8E3CA4271D3C}"/>
              </a:ext>
            </a:extLst>
          </p:cNvPr>
          <p:cNvPicPr>
            <a:picLocks noChangeAspect="1"/>
          </p:cNvPicPr>
          <p:nvPr/>
        </p:nvPicPr>
        <p:blipFill>
          <a:blip r:embed="rId4"/>
          <a:stretch>
            <a:fillRect/>
          </a:stretch>
        </p:blipFill>
        <p:spPr>
          <a:xfrm>
            <a:off x="8836147" y="4245733"/>
            <a:ext cx="1689945" cy="1349524"/>
          </a:xfrm>
          <a:prstGeom prst="rect">
            <a:avLst/>
          </a:prstGeom>
        </p:spPr>
      </p:pic>
    </p:spTree>
    <p:extLst>
      <p:ext uri="{BB962C8B-B14F-4D97-AF65-F5344CB8AC3E}">
        <p14:creationId xmlns:p14="http://schemas.microsoft.com/office/powerpoint/2010/main" val="36216796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1846E-E737-72CF-576B-D60E20CBF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31CFD-DF9C-2F08-F546-FC343F80C024}"/>
              </a:ext>
            </a:extLst>
          </p:cNvPr>
          <p:cNvSpPr>
            <a:spLocks noGrp="1"/>
          </p:cNvSpPr>
          <p:nvPr>
            <p:ph type="title"/>
          </p:nvPr>
        </p:nvSpPr>
        <p:spPr>
          <a:xfrm>
            <a:off x="609599" y="1"/>
            <a:ext cx="11005458" cy="1209524"/>
          </a:xfrm>
        </p:spPr>
        <p:txBody>
          <a:bodyPr/>
          <a:lstStyle/>
          <a:p>
            <a:r>
              <a:rPr lang="en-US" dirty="0"/>
              <a:t>How would regional stocks evolve if we used our newly derived state-level net survival curves?</a:t>
            </a:r>
          </a:p>
        </p:txBody>
      </p:sp>
      <p:pic>
        <p:nvPicPr>
          <p:cNvPr id="6" name="Picture 5">
            <a:extLst>
              <a:ext uri="{FF2B5EF4-FFF2-40B4-BE49-F238E27FC236}">
                <a16:creationId xmlns:a16="http://schemas.microsoft.com/office/drawing/2014/main" id="{294BA628-B9AA-A690-BD5B-A48C6D0F9EA8}"/>
              </a:ext>
            </a:extLst>
          </p:cNvPr>
          <p:cNvPicPr>
            <a:picLocks noChangeAspect="1"/>
          </p:cNvPicPr>
          <p:nvPr/>
        </p:nvPicPr>
        <p:blipFill>
          <a:blip r:embed="rId2"/>
          <a:stretch>
            <a:fillRect/>
          </a:stretch>
        </p:blipFill>
        <p:spPr>
          <a:xfrm>
            <a:off x="766994" y="1996069"/>
            <a:ext cx="3659533" cy="2561289"/>
          </a:xfrm>
          <a:prstGeom prst="rect">
            <a:avLst/>
          </a:prstGeom>
        </p:spPr>
      </p:pic>
      <p:pic>
        <p:nvPicPr>
          <p:cNvPr id="8" name="Picture 7">
            <a:extLst>
              <a:ext uri="{FF2B5EF4-FFF2-40B4-BE49-F238E27FC236}">
                <a16:creationId xmlns:a16="http://schemas.microsoft.com/office/drawing/2014/main" id="{DDF95716-87D7-A684-1669-582AE464D0E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65802" y="1996069"/>
            <a:ext cx="3661993" cy="2743811"/>
          </a:xfrm>
          <a:prstGeom prst="rect">
            <a:avLst/>
          </a:prstGeom>
          <a:noFill/>
        </p:spPr>
      </p:pic>
      <p:sp>
        <p:nvSpPr>
          <p:cNvPr id="10" name="Rectangle 9">
            <a:extLst>
              <a:ext uri="{FF2B5EF4-FFF2-40B4-BE49-F238E27FC236}">
                <a16:creationId xmlns:a16="http://schemas.microsoft.com/office/drawing/2014/main" id="{6AA8D5AF-A147-1F65-83FE-AD11E2599AEA}"/>
              </a:ext>
            </a:extLst>
          </p:cNvPr>
          <p:cNvSpPr/>
          <p:nvPr/>
        </p:nvSpPr>
        <p:spPr>
          <a:xfrm>
            <a:off x="950466" y="1361209"/>
            <a:ext cx="3096491" cy="48317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Current age distribution of regional vehicle stocks</a:t>
            </a:r>
          </a:p>
        </p:txBody>
      </p:sp>
      <p:sp>
        <p:nvSpPr>
          <p:cNvPr id="11" name="Rectangle 10">
            <a:extLst>
              <a:ext uri="{FF2B5EF4-FFF2-40B4-BE49-F238E27FC236}">
                <a16:creationId xmlns:a16="http://schemas.microsoft.com/office/drawing/2014/main" id="{FAA31AD3-E3F5-9546-5F83-FC0106789D16}"/>
              </a:ext>
            </a:extLst>
          </p:cNvPr>
          <p:cNvSpPr/>
          <p:nvPr/>
        </p:nvSpPr>
        <p:spPr>
          <a:xfrm>
            <a:off x="5048554" y="1361209"/>
            <a:ext cx="3096491" cy="48317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State-level net survival curves </a:t>
            </a:r>
          </a:p>
          <a:p>
            <a:pPr algn="ctr"/>
            <a:r>
              <a:rPr lang="en-US" dirty="0"/>
              <a:t>(Greene et al. 2025, submitted)</a:t>
            </a:r>
          </a:p>
        </p:txBody>
      </p:sp>
      <p:pic>
        <p:nvPicPr>
          <p:cNvPr id="12" name="Picture 11">
            <a:extLst>
              <a:ext uri="{FF2B5EF4-FFF2-40B4-BE49-F238E27FC236}">
                <a16:creationId xmlns:a16="http://schemas.microsoft.com/office/drawing/2014/main" id="{ADF67895-21BE-C9B7-985C-7A4354C7483C}"/>
              </a:ext>
            </a:extLst>
          </p:cNvPr>
          <p:cNvPicPr>
            <a:picLocks noChangeAspect="1"/>
          </p:cNvPicPr>
          <p:nvPr/>
        </p:nvPicPr>
        <p:blipFill>
          <a:blip r:embed="rId2"/>
          <a:stretch>
            <a:fillRect/>
          </a:stretch>
        </p:blipFill>
        <p:spPr>
          <a:xfrm>
            <a:off x="9498621" y="4093661"/>
            <a:ext cx="2416188" cy="1691078"/>
          </a:xfrm>
          <a:prstGeom prst="rect">
            <a:avLst/>
          </a:prstGeom>
        </p:spPr>
      </p:pic>
      <p:sp>
        <p:nvSpPr>
          <p:cNvPr id="13" name="Text Placeholder 2">
            <a:extLst>
              <a:ext uri="{FF2B5EF4-FFF2-40B4-BE49-F238E27FC236}">
                <a16:creationId xmlns:a16="http://schemas.microsoft.com/office/drawing/2014/main" id="{733AC1E2-5535-EB2E-D9A0-A4F7E925C4A0}"/>
              </a:ext>
            </a:extLst>
          </p:cNvPr>
          <p:cNvSpPr>
            <a:spLocks noGrp="1"/>
          </p:cNvSpPr>
          <p:nvPr>
            <p:ph type="body" sz="quarter" idx="10"/>
          </p:nvPr>
        </p:nvSpPr>
        <p:spPr>
          <a:xfrm>
            <a:off x="4324735" y="1293006"/>
            <a:ext cx="554181" cy="703063"/>
          </a:xfrm>
        </p:spPr>
        <p:txBody>
          <a:bodyPr>
            <a:normAutofit/>
          </a:bodyPr>
          <a:lstStyle/>
          <a:p>
            <a:pPr marL="0" indent="0">
              <a:buNone/>
            </a:pPr>
            <a:r>
              <a:rPr lang="en-US" dirty="0"/>
              <a:t>+</a:t>
            </a:r>
          </a:p>
        </p:txBody>
      </p:sp>
      <p:sp>
        <p:nvSpPr>
          <p:cNvPr id="15" name="Rectangle 14">
            <a:extLst>
              <a:ext uri="{FF2B5EF4-FFF2-40B4-BE49-F238E27FC236}">
                <a16:creationId xmlns:a16="http://schemas.microsoft.com/office/drawing/2014/main" id="{3550A692-BEF7-95E9-90E8-3EB1D021466C}"/>
              </a:ext>
            </a:extLst>
          </p:cNvPr>
          <p:cNvSpPr/>
          <p:nvPr/>
        </p:nvSpPr>
        <p:spPr>
          <a:xfrm>
            <a:off x="9633703" y="1361209"/>
            <a:ext cx="1981354" cy="100791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25 simulation years in TEMPO</a:t>
            </a:r>
          </a:p>
        </p:txBody>
      </p:sp>
      <p:cxnSp>
        <p:nvCxnSpPr>
          <p:cNvPr id="17" name="Straight Arrow Connector 16">
            <a:extLst>
              <a:ext uri="{FF2B5EF4-FFF2-40B4-BE49-F238E27FC236}">
                <a16:creationId xmlns:a16="http://schemas.microsoft.com/office/drawing/2014/main" id="{42D56440-FB53-C3DD-B3E2-FAC87A673812}"/>
              </a:ext>
            </a:extLst>
          </p:cNvPr>
          <p:cNvCxnSpPr/>
          <p:nvPr/>
        </p:nvCxnSpPr>
        <p:spPr>
          <a:xfrm>
            <a:off x="8427795" y="1602797"/>
            <a:ext cx="778550" cy="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CFE2C6FA-C421-A7FA-F048-7291AF1C0C33}"/>
              </a:ext>
            </a:extLst>
          </p:cNvPr>
          <p:cNvCxnSpPr>
            <a:cxnSpLocks/>
          </p:cNvCxnSpPr>
          <p:nvPr/>
        </p:nvCxnSpPr>
        <p:spPr>
          <a:xfrm>
            <a:off x="10619509" y="2836719"/>
            <a:ext cx="0" cy="1028700"/>
          </a:xfrm>
          <a:prstGeom prst="straightConnector1">
            <a:avLst/>
          </a:prstGeom>
          <a:ln>
            <a:tailEnd type="triangle" w="lg" len="lg"/>
          </a:ln>
        </p:spPr>
        <p:style>
          <a:lnRef idx="2">
            <a:schemeClr val="dk1"/>
          </a:lnRef>
          <a:fillRef idx="0">
            <a:schemeClr val="dk1"/>
          </a:fillRef>
          <a:effectRef idx="1">
            <a:schemeClr val="dk1"/>
          </a:effectRef>
          <a:fontRef idx="minor">
            <a:schemeClr val="tx1"/>
          </a:fontRef>
        </p:style>
      </p:cxnSp>
      <p:sp>
        <p:nvSpPr>
          <p:cNvPr id="22" name="Rectangle 21">
            <a:extLst>
              <a:ext uri="{FF2B5EF4-FFF2-40B4-BE49-F238E27FC236}">
                <a16:creationId xmlns:a16="http://schemas.microsoft.com/office/drawing/2014/main" id="{3F9CDEF2-4B1E-B157-5564-D8D98114342B}"/>
              </a:ext>
            </a:extLst>
          </p:cNvPr>
          <p:cNvSpPr/>
          <p:nvPr/>
        </p:nvSpPr>
        <p:spPr>
          <a:xfrm>
            <a:off x="10181281" y="4547175"/>
            <a:ext cx="751763" cy="67635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t>
            </a:r>
          </a:p>
        </p:txBody>
      </p:sp>
      <p:sp>
        <p:nvSpPr>
          <p:cNvPr id="23" name="Rectangle 22">
            <a:extLst>
              <a:ext uri="{FF2B5EF4-FFF2-40B4-BE49-F238E27FC236}">
                <a16:creationId xmlns:a16="http://schemas.microsoft.com/office/drawing/2014/main" id="{9B4A4A25-E440-B20A-1D8A-29316AD8094A}"/>
              </a:ext>
            </a:extLst>
          </p:cNvPr>
          <p:cNvSpPr/>
          <p:nvPr/>
        </p:nvSpPr>
        <p:spPr>
          <a:xfrm>
            <a:off x="10237160" y="2434562"/>
            <a:ext cx="743918" cy="7761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25FB5283-19BD-195D-7C3A-7C1F35A76DA3}"/>
              </a:ext>
            </a:extLst>
          </p:cNvPr>
          <p:cNvPicPr>
            <a:picLocks noChangeAspect="1"/>
          </p:cNvPicPr>
          <p:nvPr/>
        </p:nvPicPr>
        <p:blipFill>
          <a:blip r:embed="rId4"/>
          <a:stretch>
            <a:fillRect/>
          </a:stretch>
        </p:blipFill>
        <p:spPr>
          <a:xfrm>
            <a:off x="10338424" y="2450416"/>
            <a:ext cx="544419" cy="713925"/>
          </a:xfrm>
          <a:prstGeom prst="rect">
            <a:avLst/>
          </a:prstGeom>
        </p:spPr>
      </p:pic>
    </p:spTree>
    <p:extLst>
      <p:ext uri="{BB962C8B-B14F-4D97-AF65-F5344CB8AC3E}">
        <p14:creationId xmlns:p14="http://schemas.microsoft.com/office/powerpoint/2010/main" val="3412085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54502-D254-FE66-4A4E-399F5C06B3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CF294-0342-0340-85A8-768760BB4B8E}"/>
              </a:ext>
            </a:extLst>
          </p:cNvPr>
          <p:cNvSpPr>
            <a:spLocks noGrp="1"/>
          </p:cNvSpPr>
          <p:nvPr>
            <p:ph type="title"/>
          </p:nvPr>
        </p:nvSpPr>
        <p:spPr/>
        <p:txBody>
          <a:bodyPr/>
          <a:lstStyle/>
          <a:p>
            <a:r>
              <a:rPr lang="en-US" dirty="0"/>
              <a:t>Next steps </a:t>
            </a:r>
            <a:br>
              <a:rPr lang="en-US" dirty="0"/>
            </a:br>
            <a:r>
              <a:rPr lang="en-US" dirty="0"/>
              <a:t>(with limited remaining budget)</a:t>
            </a:r>
          </a:p>
        </p:txBody>
      </p:sp>
      <p:sp>
        <p:nvSpPr>
          <p:cNvPr id="3" name="Text Placeholder 2">
            <a:extLst>
              <a:ext uri="{FF2B5EF4-FFF2-40B4-BE49-F238E27FC236}">
                <a16:creationId xmlns:a16="http://schemas.microsoft.com/office/drawing/2014/main" id="{A881F891-7F5E-DF66-A404-E99E7BBED434}"/>
              </a:ext>
            </a:extLst>
          </p:cNvPr>
          <p:cNvSpPr>
            <a:spLocks noGrp="1"/>
          </p:cNvSpPr>
          <p:nvPr>
            <p:ph type="body" sz="quarter" idx="10"/>
          </p:nvPr>
        </p:nvSpPr>
        <p:spPr/>
        <p:txBody>
          <a:bodyPr>
            <a:normAutofit/>
          </a:bodyPr>
          <a:lstStyle/>
          <a:p>
            <a:r>
              <a:rPr lang="en-US" dirty="0"/>
              <a:t>Complete resubmission of peer-reviewed paper</a:t>
            </a:r>
          </a:p>
          <a:p>
            <a:r>
              <a:rPr lang="en-US" dirty="0"/>
              <a:t>Complete interpretation of simulation results (which could be part of additional validation for above)</a:t>
            </a:r>
          </a:p>
          <a:p>
            <a:r>
              <a:rPr lang="en-US" dirty="0"/>
              <a:t>Document with choropleths and highlighted regional results</a:t>
            </a:r>
          </a:p>
          <a:p>
            <a:r>
              <a:rPr lang="en-US" dirty="0"/>
              <a:t>Assess and discuss alignment with national results, specifically with stock of new technologies</a:t>
            </a:r>
          </a:p>
          <a:p>
            <a:endParaRPr lang="en-US" dirty="0"/>
          </a:p>
          <a:p>
            <a:endParaRPr lang="en-US" dirty="0"/>
          </a:p>
          <a:p>
            <a:endParaRPr lang="en-US" dirty="0"/>
          </a:p>
        </p:txBody>
      </p:sp>
    </p:spTree>
    <p:extLst>
      <p:ext uri="{BB962C8B-B14F-4D97-AF65-F5344CB8AC3E}">
        <p14:creationId xmlns:p14="http://schemas.microsoft.com/office/powerpoint/2010/main" val="338189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47EA9D-7469-7D67-E847-3E8F0116A423}"/>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1B5B358D-4817-AD30-BDCE-FBEE9AEA23A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092451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16-9-presentation-2019" id="{E8A68D52-70D5-1F45-9E2B-50DC26CDF849}" vid="{0CCD6724-4B42-BC4D-AA89-F63B9FDE5D3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5965d95-ecc0-4720-b759-1f33c42ed7da}" enabled="1" method="Standard" siteId="{a0f29d7e-28cd-4f54-8442-7885aee7c080}" removed="0"/>
</clbl:labelList>
</file>

<file path=docProps/app.xml><?xml version="1.0" encoding="utf-8"?>
<Properties xmlns="http://schemas.openxmlformats.org/officeDocument/2006/extended-properties" xmlns:vt="http://schemas.openxmlformats.org/officeDocument/2006/docPropsVTypes">
  <TotalTime>16493</TotalTime>
  <Words>1703</Words>
  <Application>Microsoft Office PowerPoint</Application>
  <PresentationFormat>Widescreen</PresentationFormat>
  <Paragraphs>156</Paragraphs>
  <Slides>20</Slides>
  <Notes>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-apple-system</vt:lpstr>
      <vt:lpstr>Aptos</vt:lpstr>
      <vt:lpstr>Aptos Display</vt:lpstr>
      <vt:lpstr>Arial</vt:lpstr>
      <vt:lpstr>Calibri</vt:lpstr>
      <vt:lpstr>Segoe UI</vt:lpstr>
      <vt:lpstr>Times New Roman</vt:lpstr>
      <vt:lpstr>Office Theme</vt:lpstr>
      <vt:lpstr>1_Office Theme</vt:lpstr>
      <vt:lpstr>PowerPoint Presentation</vt:lpstr>
      <vt:lpstr>Regional differences in vehicle age, survival, and stock modeling have been underlooked</vt:lpstr>
      <vt:lpstr>Disproportionate ownership of new vehicles and EVs by high-income households</vt:lpstr>
      <vt:lpstr>EV diffusion depends on both  sales share and new sales</vt:lpstr>
      <vt:lpstr>EV sales share and age have been somewhat  anti-correlated so far</vt:lpstr>
      <vt:lpstr>Not just important for EVs/environment</vt:lpstr>
      <vt:lpstr>This work seeks to enhance modeling of  regional vehicle stocks, sales, and turnover</vt:lpstr>
      <vt:lpstr>National-level vehicle fleet  survival curve</vt:lpstr>
      <vt:lpstr>National  survival curves 2014-2022</vt:lpstr>
      <vt:lpstr>State-level survival curves, 2019</vt:lpstr>
      <vt:lpstr>Variables explaining  state-level differences in survival</vt:lpstr>
      <vt:lpstr>Generalized state-level survival curves, predicted for 2022, based on 2014-2022 data</vt:lpstr>
      <vt:lpstr>Journal peer review - reject</vt:lpstr>
      <vt:lpstr>How can accurate regional vehicle turnover/sales be estimated?</vt:lpstr>
      <vt:lpstr>The age distribution of vehicle stock differs varies across the US</vt:lpstr>
      <vt:lpstr>Differences in age distribution are starker at the county level</vt:lpstr>
      <vt:lpstr>Applying the national survival to 2050 produces the expected steady-state stock, same in every county</vt:lpstr>
      <vt:lpstr>How would regional stocks evolve if we used our newly derived state-level net survival curves?</vt:lpstr>
      <vt:lpstr>Next steps  (with limited remaining budget)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Yip, Arthur</dc:creator>
  <cp:lastModifiedBy>Yip, Arthur</cp:lastModifiedBy>
  <cp:revision>3</cp:revision>
  <dcterms:created xsi:type="dcterms:W3CDTF">2025-06-27T16:51:39Z</dcterms:created>
  <dcterms:modified xsi:type="dcterms:W3CDTF">2025-10-20T23:49:27Z</dcterms:modified>
</cp:coreProperties>
</file>